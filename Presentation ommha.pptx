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50" d="100"/>
          <a:sy n="50" d="100"/>
        </p:scale>
        <p:origin x="2056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3AF2-8327-8344-B23C-D586703A69AD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A614F-0164-9946-B71E-AD6931CA2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1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A614F-0164-9946-B71E-AD6931CA26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06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843A-A3F9-DEF6-4FCE-3CC454125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5E578-B391-B229-F930-42D98232B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8094-4EB8-7570-20D6-441391D0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17FC6-3970-40A2-D582-A6B6D7A4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0385-D3DB-1AAD-6802-6D7C9CEF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5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54C8-D94F-544C-7836-A15A4227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6FD1-3B7A-2897-C745-BCEB45EC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FD675-A8DC-DECB-26BD-AA0CAE0E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4FFF-077B-668D-1800-EF47BD81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842F-CF92-FB65-72D9-FEB1B3F3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BE99-D53B-251F-AB88-FD684499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3164-6E50-D73D-DDA0-150938E05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68674-2CEA-948E-913D-DC28F80E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37CEB-3202-0E19-5B49-FBCFAD7C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5271-AE86-3DF2-0BD2-5893C0323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62E7-4A3F-1025-2962-3BB45470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BC547-356E-4159-2C9F-E92FD8BCC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A936C-663D-177E-0B88-6955A8A71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B11B8-DCA6-B946-A369-8341E1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20712-2315-4CE8-8BE9-D030DDFF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D2A6-9F3F-14D0-9258-86D937AA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7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B7FE-0949-A072-DD58-EB5B95CC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332B-082B-4966-FCBE-78D991672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F24B5-BAE0-520C-8275-0146DF99C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2BE5A-C678-045D-49B1-12A149C4C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CF2CE-6A62-32ED-929A-CBBCA119F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D8271-9BAF-1140-57DD-3C9CFDF5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B8D03-A562-89C1-B56B-B239D166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7F651-33B5-717D-33D7-3ACB9F3A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19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18A8-6560-5465-C960-C12988C4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A1CFC-9C52-7FDA-3BE3-7FCED6F3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78301-C730-50D3-90E2-CD434E4A9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DF079-1A33-9A72-2CDE-62C6E6C5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6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9B450-EE70-C910-C854-2921EB8C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62A7-502F-2AC4-E014-A030BC87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22333-740B-4909-FB1D-915E11B4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0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5D41-D6B8-7E54-4F14-436DEB86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23E55-D6FC-138E-15AD-7BBA159C7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B1D6A-56C6-FEE2-2069-3592A3DC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27B74-CD11-A16C-33E5-1743E49B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8E46B-45B4-4942-02BF-35DDFF73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3E5DC-D10A-91EA-3384-D0776167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2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0501-34C9-B2DA-F8B9-27AACA75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99B3A-9C66-4C10-59E6-2F24C547A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0D090-AA39-02D9-3C77-20109FD3E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6EB93-651E-5C4A-08B7-18D795F0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CCF87-FABA-9F2D-ED4B-2F11261C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60E12-6128-1DF9-AFA7-A4B47C57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9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5093-DE61-1431-983E-602C552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0B777-D2D3-28F9-1FD8-ED32002C9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D0ADC-30C5-E566-3213-23AE16BE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4A99-E270-4B60-1192-002F6123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D1AAC-8369-D67D-10E2-BA981ACD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1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0F510-A822-BB00-DC21-C4F8E7C1E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9A327-9B37-803B-76B5-99BD3F59E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77D68-A8C0-F397-8D2C-23877209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5D725-027D-7468-781D-B57D6B2C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2B8BB-FEEA-E8AF-97E5-E1CB452B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38C9E-8BBB-F8C6-B791-27BE2370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69AD4-FA27-4FB5-9C5E-C6EF37814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A19D2-955E-7EE6-FA7A-3C5775ED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07748-F4A9-AD4F-9D66-6E501C14DA69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6F5F3-A823-1CBE-6D16-49EB3F758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A47E-4647-0171-6B7C-0BF106A87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E050F-A90D-F24D-8412-5CF0F315EB2A}" type="slidenum">
              <a:rPr lang="en-US" smtClean="0"/>
              <a:t>‹#›</a:t>
            </a:fld>
            <a:endParaRPr lang="en-US"/>
          </a:p>
        </p:txBody>
      </p:sp>
      <p:grpSp>
        <p:nvGrpSpPr>
          <p:cNvPr id="94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41" name="AccentBar"/>
            <p:cNvSpPr/>
            <p:nvPr/>
          </p:nvSpPr>
          <p:spPr>
            <a:xfrm>
              <a:off x="0" y="0"/>
              <a:ext cx="64008" cy="6858000"/>
            </a:xfrm>
            <a:prstGeom prst="rect">
              <a:avLst/>
            </a:prstGeom>
            <a:solidFill>
              <a:srgbClr val="2A68A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CornerBlock"/>
            <p:cNvSpPr/>
            <p:nvPr/>
          </p:nvSpPr>
          <p:spPr>
            <a:xfrm>
              <a:off x="11900000" y="6620000"/>
              <a:ext cx="292000" cy="238000"/>
            </a:xfrm>
            <a:prstGeom prst="rect">
              <a:avLst/>
            </a:prstGeom>
            <a:solidFill>
              <a:srgbClr val="FFBF47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468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4304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8A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A09C-09FF-07BC-1B7A-4C3D9A851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9200"/>
            <a:ext cx="9144000" cy="1905000"/>
          </a:xfrm>
        </p:spPr>
        <p:txBody>
          <a:bodyPr/>
          <a:lstStyle/>
          <a:p>
            <a:pPr algn="ctr"/>
            <a:r>
              <a:rPr lang="id-ID" sz="9000" b="1" spc="300" dirty="0">
                <a:solidFill>
                  <a:srgbClr val="FFFFFF"/>
                </a:solidFill>
              </a:rPr>
              <a:t>OMMHA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57986-02EF-DFEF-8B5D-7FEADD744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445000"/>
            <a:ext cx="8382000" cy="1651000"/>
          </a:xfrm>
        </p:spPr>
        <p:txBody>
          <a:bodyPr/>
          <a:lstStyle/>
          <a:p>
            <a:pPr algn="ctr"/>
            <a:r>
              <a:rPr lang="id-ID" sz="1800" dirty="0">
                <a:solidFill>
                  <a:srgbClr val="FFFFFF"/>
                </a:solidFill>
              </a:rPr>
              <a:t>Aplikasi Pendataan &amp; Klasifikasi Fasilitas Kesehatan Jiwa dan Layanan Sosial</a:t>
            </a:r>
          </a:p>
          <a:p>
            <a:pPr algn="ctr">
              <a:spcBef>
                <a:spcPts val="800"/>
              </a:spcBef>
            </a:pPr>
            <a:r>
              <a:rPr lang="id-ID" sz="1300" i="1" dirty="0">
                <a:solidFill>
                  <a:srgbClr val="D6E4F2"/>
                </a:solidFill>
              </a:rPr>
              <a:t>Berbasis standar klasifikasi DESDE-LTC</a:t>
            </a:r>
          </a:p>
        </p:txBody>
      </p:sp>
    </p:spTree>
    <p:extLst>
      <p:ext uri="{BB962C8B-B14F-4D97-AF65-F5344CB8AC3E}">
        <p14:creationId xmlns:p14="http://schemas.microsoft.com/office/powerpoint/2010/main" val="239255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C609-7983-BBCA-5662-4DFE1F4C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 Itu OMMHA?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454C4-57F9-7D40-B5FB-EEB0BEF73218}"/>
              </a:ext>
            </a:extLst>
          </p:cNvPr>
          <p:cNvSpPr txBox="1"/>
          <p:nvPr/>
        </p:nvSpPr>
        <p:spPr>
          <a:xfrm>
            <a:off x="762000" y="19050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Aplikasi survey untuk mendata &amp; mengklasifikasikan fasilitas layanan kesehatan jiwa dan sosial di Indonesia — memakai standar internasional DESDE-LTC untuk memetakan jenis layanan secara terstruktur.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50638D-EAA1-334B-BDD5-75F44D12AEE8}"/>
              </a:ext>
            </a:extLst>
          </p:cNvPr>
          <p:cNvSpPr/>
          <p:nvPr/>
        </p:nvSpPr>
        <p:spPr>
          <a:xfrm>
            <a:off x="762000" y="3098800"/>
            <a:ext cx="3302000" cy="29464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61C94E-8901-B24B-B352-F85127F2A8C9}"/>
              </a:ext>
            </a:extLst>
          </p:cNvPr>
          <p:cNvSpPr/>
          <p:nvPr/>
        </p:nvSpPr>
        <p:spPr>
          <a:xfrm>
            <a:off x="1981200" y="3429000"/>
            <a:ext cx="863600" cy="863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A7807-3EA9-DD43-9E9C-4289BAC8FB89}"/>
              </a:ext>
            </a:extLst>
          </p:cNvPr>
          <p:cNvSpPr txBox="1"/>
          <p:nvPr/>
        </p:nvSpPr>
        <p:spPr>
          <a:xfrm>
            <a:off x="914400" y="44958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</a:rPr>
              <a:t>Aplikasi Mobile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7520F-4509-6F42-A72D-CE1943BC487A}"/>
              </a:ext>
            </a:extLst>
          </p:cNvPr>
          <p:cNvSpPr txBox="1"/>
          <p:nvPr/>
        </p:nvSpPr>
        <p:spPr>
          <a:xfrm>
            <a:off x="990600" y="4927600"/>
            <a:ext cx="28448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Surveyor mengisi data fasilitas langsung di lapangan.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696537-9B1C-B943-8C18-FA4171E904CA}"/>
              </a:ext>
            </a:extLst>
          </p:cNvPr>
          <p:cNvSpPr/>
          <p:nvPr/>
        </p:nvSpPr>
        <p:spPr>
          <a:xfrm>
            <a:off x="4445000" y="3098800"/>
            <a:ext cx="3302000" cy="29464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8D58D5-8144-054A-9AA3-CF0C58A6AF89}"/>
              </a:ext>
            </a:extLst>
          </p:cNvPr>
          <p:cNvSpPr/>
          <p:nvPr/>
        </p:nvSpPr>
        <p:spPr>
          <a:xfrm>
            <a:off x="5664200" y="3429000"/>
            <a:ext cx="863600" cy="863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ACCEB-B149-D64B-8FF1-C4B618AA9E0C}"/>
              </a:ext>
            </a:extLst>
          </p:cNvPr>
          <p:cNvSpPr txBox="1"/>
          <p:nvPr/>
        </p:nvSpPr>
        <p:spPr>
          <a:xfrm>
            <a:off x="4597400" y="44958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</a:rPr>
              <a:t>Dashboard Web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32E7F-2972-6749-B2EB-9297BAE36371}"/>
              </a:ext>
            </a:extLst>
          </p:cNvPr>
          <p:cNvSpPr txBox="1"/>
          <p:nvPr/>
        </p:nvSpPr>
        <p:spPr>
          <a:xfrm>
            <a:off x="4673600" y="4927600"/>
            <a:ext cx="28448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Admin &amp; verifikator mengelola dan memeriksa data.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FEC93A-41D9-7044-9F52-2553E75ECBE4}"/>
              </a:ext>
            </a:extLst>
          </p:cNvPr>
          <p:cNvSpPr/>
          <p:nvPr/>
        </p:nvSpPr>
        <p:spPr>
          <a:xfrm>
            <a:off x="8128000" y="3098800"/>
            <a:ext cx="3302000" cy="29464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B77911-628E-B54B-9771-5A1F2366CFB2}"/>
              </a:ext>
            </a:extLst>
          </p:cNvPr>
          <p:cNvSpPr/>
          <p:nvPr/>
        </p:nvSpPr>
        <p:spPr>
          <a:xfrm>
            <a:off x="9347200" y="3429000"/>
            <a:ext cx="863600" cy="863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975A-BDD4-B448-985D-4E4442C2EA7E}"/>
              </a:ext>
            </a:extLst>
          </p:cNvPr>
          <p:cNvSpPr txBox="1"/>
          <p:nvPr/>
        </p:nvSpPr>
        <p:spPr>
          <a:xfrm>
            <a:off x="8280400" y="4495800"/>
            <a:ext cx="299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</a:rPr>
              <a:t>Direktori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5AFAF0-BBA5-B04B-974B-B894436D83CE}"/>
              </a:ext>
            </a:extLst>
          </p:cNvPr>
          <p:cNvSpPr txBox="1"/>
          <p:nvPr/>
        </p:nvSpPr>
        <p:spPr>
          <a:xfrm>
            <a:off x="8356600" y="4927600"/>
            <a:ext cx="28448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Data terverifikasi siap diakses publik &amp; terstruktur.</a:t>
            </a:r>
          </a:p>
        </p:txBody>
      </p:sp>
      <p:pic>
        <p:nvPicPr>
          <p:cNvPr id="18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803900" y="3581400"/>
            <a:ext cx="584200" cy="584200"/>
          </a:xfrm>
          <a:prstGeom prst="rect">
            <a:avLst/>
          </a:prstGeom>
        </p:spPr>
      </p:pic>
      <p:pic>
        <p:nvPicPr>
          <p:cNvPr id="19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486900" y="3568700"/>
            <a:ext cx="584200" cy="5842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62DBE3-3017-9543-FB9C-708F67DF7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4550" y="35687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9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654E-21B6-C1FE-1102-F7FFA8FD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Empat Peran Pengguna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B9BD3A-6A53-1742-A70A-AC8CEA36F2B3}"/>
              </a:ext>
            </a:extLst>
          </p:cNvPr>
          <p:cNvSpPr/>
          <p:nvPr/>
        </p:nvSpPr>
        <p:spPr>
          <a:xfrm>
            <a:off x="762000" y="1905000"/>
            <a:ext cx="2667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Surveyor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0D9F44-DE5A-FF4B-8797-DB63A2A65125}"/>
              </a:ext>
            </a:extLst>
          </p:cNvPr>
          <p:cNvSpPr/>
          <p:nvPr/>
        </p:nvSpPr>
        <p:spPr>
          <a:xfrm>
            <a:off x="3581400" y="1905000"/>
            <a:ext cx="7848600" cy="762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Mengisi survey fasilitas langsung di lapangan (aplikasi mobile).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FD1544-13D3-A847-8D76-FD8A45C7ECE9}"/>
              </a:ext>
            </a:extLst>
          </p:cNvPr>
          <p:cNvSpPr/>
          <p:nvPr/>
        </p:nvSpPr>
        <p:spPr>
          <a:xfrm>
            <a:off x="762000" y="2806700"/>
            <a:ext cx="2667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Verifikator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CFABDD-A14E-3849-8751-E426ABFB74D0}"/>
              </a:ext>
            </a:extLst>
          </p:cNvPr>
          <p:cNvSpPr/>
          <p:nvPr/>
        </p:nvSpPr>
        <p:spPr>
          <a:xfrm>
            <a:off x="3581400" y="2806700"/>
            <a:ext cx="7848600" cy="762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Memeriksa serta menyetujui atau menolak data yang masuk.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B922D0-1BA3-7C4E-BBD0-9EFE47048F1F}"/>
              </a:ext>
            </a:extLst>
          </p:cNvPr>
          <p:cNvSpPr/>
          <p:nvPr/>
        </p:nvSpPr>
        <p:spPr>
          <a:xfrm>
            <a:off x="762000" y="3708400"/>
            <a:ext cx="2667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731E5E-123D-AF49-8CFA-2162BBC85A01}"/>
              </a:ext>
            </a:extLst>
          </p:cNvPr>
          <p:cNvSpPr/>
          <p:nvPr/>
        </p:nvSpPr>
        <p:spPr>
          <a:xfrm>
            <a:off x="3581400" y="3708400"/>
            <a:ext cx="7848600" cy="762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Mengelola seluruh data, pengguna, dan konfigurasi sistem.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B1D378-9BE6-C74D-871D-C810554B0BAB}"/>
              </a:ext>
            </a:extLst>
          </p:cNvPr>
          <p:cNvSpPr/>
          <p:nvPr/>
        </p:nvSpPr>
        <p:spPr>
          <a:xfrm>
            <a:off x="762000" y="4610100"/>
            <a:ext cx="2667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Viewer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65E898-788B-F74E-99D6-42CDF2E294FF}"/>
              </a:ext>
            </a:extLst>
          </p:cNvPr>
          <p:cNvSpPr/>
          <p:nvPr/>
        </p:nvSpPr>
        <p:spPr>
          <a:xfrm>
            <a:off x="3581400" y="4610100"/>
            <a:ext cx="7848600" cy="762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Melihat data yang sudah terverifikasi (hanya baca).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767E24-28B9-D746-9F70-23C4C88C8FAC}"/>
              </a:ext>
            </a:extLst>
          </p:cNvPr>
          <p:cNvSpPr/>
          <p:nvPr/>
        </p:nvSpPr>
        <p:spPr>
          <a:xfrm>
            <a:off x="762000" y="5588000"/>
            <a:ext cx="10668000" cy="533400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FFBF4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 err="1">
                <a:solidFill>
                  <a:srgbClr val="1A1A1A"/>
                </a:solidFill>
              </a:rPr>
              <a:t>Tiap</a:t>
            </a:r>
            <a:r>
              <a:rPr lang="en-US" sz="1400" b="1" dirty="0">
                <a:solidFill>
                  <a:srgbClr val="1A1A1A"/>
                </a:solidFill>
              </a:rPr>
              <a:t> </a:t>
            </a:r>
            <a:r>
              <a:rPr lang="en-US" sz="1400" b="1" dirty="0" err="1">
                <a:solidFill>
                  <a:srgbClr val="1A1A1A"/>
                </a:solidFill>
              </a:rPr>
              <a:t>pengguna</a:t>
            </a:r>
            <a:r>
              <a:rPr lang="en-US" sz="1400" b="1" dirty="0">
                <a:solidFill>
                  <a:srgbClr val="1A1A1A"/>
                </a:solidFill>
              </a:rPr>
              <a:t> </a:t>
            </a:r>
            <a:r>
              <a:rPr lang="en-US" sz="1400" b="1" dirty="0" err="1">
                <a:solidFill>
                  <a:srgbClr val="1A1A1A"/>
                </a:solidFill>
              </a:rPr>
              <a:t>hanya</a:t>
            </a:r>
            <a:r>
              <a:rPr lang="en-US" sz="1400" b="1" dirty="0">
                <a:solidFill>
                  <a:srgbClr val="1A1A1A"/>
                </a:solidFill>
              </a:rPr>
              <a:t> </a:t>
            </a:r>
            <a:r>
              <a:rPr lang="en-US" sz="1400" b="1" dirty="0" err="1">
                <a:solidFill>
                  <a:srgbClr val="1A1A1A"/>
                </a:solidFill>
              </a:rPr>
              <a:t>melihat</a:t>
            </a:r>
            <a:r>
              <a:rPr lang="en-US" sz="1400" b="1" dirty="0">
                <a:solidFill>
                  <a:srgbClr val="1A1A1A"/>
                </a:solidFill>
              </a:rPr>
              <a:t> data </a:t>
            </a:r>
            <a:r>
              <a:rPr lang="en-US" sz="1400" b="1" dirty="0" err="1">
                <a:solidFill>
                  <a:srgbClr val="1A1A1A"/>
                </a:solidFill>
              </a:rPr>
              <a:t>sesuai</a:t>
            </a:r>
            <a:r>
              <a:rPr lang="en-US" sz="1400" b="1" dirty="0">
                <a:solidFill>
                  <a:srgbClr val="1A1A1A"/>
                </a:solidFill>
              </a:rPr>
              <a:t> </a:t>
            </a:r>
            <a:r>
              <a:rPr lang="en-US" sz="1400" b="1" dirty="0" err="1">
                <a:solidFill>
                  <a:srgbClr val="1A1A1A"/>
                </a:solidFill>
              </a:rPr>
              <a:t>perannya</a:t>
            </a:r>
            <a:r>
              <a:rPr lang="en-US" sz="1400" b="1" dirty="0">
                <a:solidFill>
                  <a:srgbClr val="1A1A1A"/>
                </a:solidFill>
              </a:rPr>
              <a:t> — data </a:t>
            </a:r>
            <a:r>
              <a:rPr lang="en-US" sz="1400" b="1" dirty="0" err="1">
                <a:solidFill>
                  <a:srgbClr val="1A1A1A"/>
                </a:solidFill>
              </a:rPr>
              <a:t>aman</a:t>
            </a:r>
            <a:r>
              <a:rPr lang="en-US" sz="1400" b="1" dirty="0">
                <a:solidFill>
                  <a:srgbClr val="1A1A1A"/>
                </a:solidFill>
              </a:rPr>
              <a:t> &amp; </a:t>
            </a:r>
            <a:r>
              <a:rPr lang="en-US" sz="1400" b="1" dirty="0" err="1">
                <a:solidFill>
                  <a:srgbClr val="1A1A1A"/>
                </a:solidFill>
              </a:rPr>
              <a:t>terpisah</a:t>
            </a:r>
            <a:r>
              <a:rPr lang="en-US" sz="1400" b="1" dirty="0">
                <a:solidFill>
                  <a:srgbClr val="1A1A1A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49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9880-3B1F-760A-2E75-4386CAE8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Cara Pakai — Surveyor (Aplikasi Mobile)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7BA50BC-0524-8C4E-8431-527DD49E1145}"/>
              </a:ext>
            </a:extLst>
          </p:cNvPr>
          <p:cNvSpPr/>
          <p:nvPr/>
        </p:nvSpPr>
        <p:spPr>
          <a:xfrm>
            <a:off x="762000" y="19812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930D41-3D20-E14C-B5FD-674DF481F673}"/>
              </a:ext>
            </a:extLst>
          </p:cNvPr>
          <p:cNvSpPr/>
          <p:nvPr/>
        </p:nvSpPr>
        <p:spPr>
          <a:xfrm>
            <a:off x="990600" y="22098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47684-7F2F-1647-818E-1247588B5239}"/>
              </a:ext>
            </a:extLst>
          </p:cNvPr>
          <p:cNvSpPr txBox="1"/>
          <p:nvPr/>
        </p:nvSpPr>
        <p:spPr>
          <a:xfrm>
            <a:off x="1701800" y="22606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Login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433B7-8045-464E-9D1C-BD7438F88156}"/>
              </a:ext>
            </a:extLst>
          </p:cNvPr>
          <p:cNvSpPr txBox="1"/>
          <p:nvPr/>
        </p:nvSpPr>
        <p:spPr>
          <a:xfrm>
            <a:off x="1016000" y="29718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Masuk ke aplikasi OMMHA dengan akun surveyor.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D1DBCB-A1A5-0D4D-AF78-5CA07C7E7C29}"/>
              </a:ext>
            </a:extLst>
          </p:cNvPr>
          <p:cNvSpPr/>
          <p:nvPr/>
        </p:nvSpPr>
        <p:spPr>
          <a:xfrm>
            <a:off x="4445000" y="19812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09C1B9-51A8-114D-842C-29F5D55334F7}"/>
              </a:ext>
            </a:extLst>
          </p:cNvPr>
          <p:cNvSpPr/>
          <p:nvPr/>
        </p:nvSpPr>
        <p:spPr>
          <a:xfrm>
            <a:off x="4673600" y="22098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12789-33F5-9B40-9C6A-75AF0C81CDD7}"/>
              </a:ext>
            </a:extLst>
          </p:cNvPr>
          <p:cNvSpPr txBox="1"/>
          <p:nvPr/>
        </p:nvSpPr>
        <p:spPr>
          <a:xfrm>
            <a:off x="5384800" y="22606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Mulai Survey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6F2F6-4EFD-5245-9A33-45B36450D394}"/>
              </a:ext>
            </a:extLst>
          </p:cNvPr>
          <p:cNvSpPr txBox="1"/>
          <p:nvPr/>
        </p:nvSpPr>
        <p:spPr>
          <a:xfrm>
            <a:off x="4699000" y="29718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Buat survey baru untuk satu fasilitas.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28167A-CE52-2C4C-8702-770DA0EB9810}"/>
              </a:ext>
            </a:extLst>
          </p:cNvPr>
          <p:cNvSpPr/>
          <p:nvPr/>
        </p:nvSpPr>
        <p:spPr>
          <a:xfrm>
            <a:off x="8128000" y="19812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B13680-2E2B-B548-A8B6-77ABDFB2C4F1}"/>
              </a:ext>
            </a:extLst>
          </p:cNvPr>
          <p:cNvSpPr/>
          <p:nvPr/>
        </p:nvSpPr>
        <p:spPr>
          <a:xfrm>
            <a:off x="8356600" y="22098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226FF4-AF3B-DD46-85F5-6539708544BD}"/>
              </a:ext>
            </a:extLst>
          </p:cNvPr>
          <p:cNvSpPr txBox="1"/>
          <p:nvPr/>
        </p:nvSpPr>
        <p:spPr>
          <a:xfrm>
            <a:off x="9067800" y="22606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Isi Pertanyaan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A1E65-7B5A-F843-B44A-EBC29DABFF21}"/>
              </a:ext>
            </a:extLst>
          </p:cNvPr>
          <p:cNvSpPr txBox="1"/>
          <p:nvPr/>
        </p:nvSpPr>
        <p:spPr>
          <a:xfrm>
            <a:off x="8382000" y="29718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Form pintar menyesuaikan pertanyaan berikutnya.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5E5E12-9D9A-B342-A815-6CB82EEDCA4C}"/>
              </a:ext>
            </a:extLst>
          </p:cNvPr>
          <p:cNvSpPr/>
          <p:nvPr/>
        </p:nvSpPr>
        <p:spPr>
          <a:xfrm>
            <a:off x="762000" y="44196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8415C4-1783-1C4E-898C-BEF6CB2B9C86}"/>
              </a:ext>
            </a:extLst>
          </p:cNvPr>
          <p:cNvSpPr/>
          <p:nvPr/>
        </p:nvSpPr>
        <p:spPr>
          <a:xfrm>
            <a:off x="990600" y="46482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AD833-6502-694A-AD79-D301AD7CB865}"/>
              </a:ext>
            </a:extLst>
          </p:cNvPr>
          <p:cNvSpPr txBox="1"/>
          <p:nvPr/>
        </p:nvSpPr>
        <p:spPr>
          <a:xfrm>
            <a:off x="1701800" y="46990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Unggah Foto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A1854-E8D2-3743-B35B-9466D6B7D7D8}"/>
              </a:ext>
            </a:extLst>
          </p:cNvPr>
          <p:cNvSpPr txBox="1"/>
          <p:nvPr/>
        </p:nvSpPr>
        <p:spPr>
          <a:xfrm>
            <a:off x="1016000" y="54102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Lampirkan bukti dan dokumentasi fasilitas.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1C60300-5FE3-2645-BF98-6CFFECC6A3C8}"/>
              </a:ext>
            </a:extLst>
          </p:cNvPr>
          <p:cNvSpPr/>
          <p:nvPr/>
        </p:nvSpPr>
        <p:spPr>
          <a:xfrm>
            <a:off x="4445000" y="44196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93B855-68BF-0443-B8D9-9EA7B9A7973D}"/>
              </a:ext>
            </a:extLst>
          </p:cNvPr>
          <p:cNvSpPr/>
          <p:nvPr/>
        </p:nvSpPr>
        <p:spPr>
          <a:xfrm>
            <a:off x="4673600" y="46482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965DEC-D72A-C748-93AD-2DC67389A559}"/>
              </a:ext>
            </a:extLst>
          </p:cNvPr>
          <p:cNvSpPr txBox="1"/>
          <p:nvPr/>
        </p:nvSpPr>
        <p:spPr>
          <a:xfrm>
            <a:off x="5384800" y="46990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Simpan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42763-DC8C-3041-B4B9-B032BAAFC6A7}"/>
              </a:ext>
            </a:extLst>
          </p:cNvPr>
          <p:cNvSpPr txBox="1"/>
          <p:nvPr/>
        </p:nvSpPr>
        <p:spPr>
          <a:xfrm>
            <a:off x="4699000" y="54102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Sinkron otomatis ke server — tetap bisa diisi saat sinyal lemah.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3E8D19F-8877-0C4E-B935-3F494B63AB23}"/>
              </a:ext>
            </a:extLst>
          </p:cNvPr>
          <p:cNvSpPr/>
          <p:nvPr/>
        </p:nvSpPr>
        <p:spPr>
          <a:xfrm>
            <a:off x="8128000" y="4419600"/>
            <a:ext cx="3302000" cy="21336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C45CEA-4CF9-B048-A350-63826DECF8C2}"/>
              </a:ext>
            </a:extLst>
          </p:cNvPr>
          <p:cNvSpPr/>
          <p:nvPr/>
        </p:nvSpPr>
        <p:spPr>
          <a:xfrm>
            <a:off x="8356600" y="4648200"/>
            <a:ext cx="584200" cy="5842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C1C05D-D234-0043-93FD-9AD79FFB97E2}"/>
              </a:ext>
            </a:extLst>
          </p:cNvPr>
          <p:cNvSpPr txBox="1"/>
          <p:nvPr/>
        </p:nvSpPr>
        <p:spPr>
          <a:xfrm>
            <a:off x="9067800" y="46990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1A1A1A"/>
                </a:solidFill>
              </a:rPr>
              <a:t>Ringkasan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C53437-E08B-DD44-9994-8D859AB29267}"/>
              </a:ext>
            </a:extLst>
          </p:cNvPr>
          <p:cNvSpPr txBox="1"/>
          <p:nvPr/>
        </p:nvSpPr>
        <p:spPr>
          <a:xfrm>
            <a:off x="8382000" y="5410200"/>
            <a:ext cx="2794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Lihat nama, lokasi, klasifikasi, tanggal &amp; status tersimpan.</a:t>
            </a:r>
          </a:p>
        </p:txBody>
      </p:sp>
    </p:spTree>
    <p:extLst>
      <p:ext uri="{BB962C8B-B14F-4D97-AF65-F5344CB8AC3E}">
        <p14:creationId xmlns:p14="http://schemas.microsoft.com/office/powerpoint/2010/main" val="206029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13E4-987B-DFEC-0792-824658CE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Form Pintar yang Bercabang Otomatis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8AD16-540A-6A43-9D79-DAF554803349}"/>
              </a:ext>
            </a:extLst>
          </p:cNvPr>
          <p:cNvSpPr txBox="1"/>
          <p:nvPr/>
        </p:nvSpPr>
        <p:spPr>
          <a:xfrm>
            <a:off x="762000" y="1854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Survey menyesuaikan jawaban — surveyor tidak perlu mengisi pertanyaan yang tidak relevan. Empat tahap besar mengalir berurutan dan makin mendalam.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1D7CE4-B939-2B4D-A16B-BBF4D84232DA}"/>
              </a:ext>
            </a:extLst>
          </p:cNvPr>
          <p:cNvSpPr/>
          <p:nvPr/>
        </p:nvSpPr>
        <p:spPr>
          <a:xfrm>
            <a:off x="762000" y="3098800"/>
            <a:ext cx="2286000" cy="1676400"/>
          </a:xfrm>
          <a:prstGeom prst="roundRect">
            <a:avLst/>
          </a:prstGeom>
          <a:solidFill>
            <a:srgbClr val="3D7B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4323B2-1D79-2E4B-8C19-3B80E823208C}"/>
              </a:ext>
            </a:extLst>
          </p:cNvPr>
          <p:cNvSpPr/>
          <p:nvPr/>
        </p:nvSpPr>
        <p:spPr>
          <a:xfrm>
            <a:off x="1651000" y="3327400"/>
            <a:ext cx="5080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3D7BB8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02D29-81BC-F248-9724-83CB97AA739D}"/>
              </a:ext>
            </a:extLst>
          </p:cNvPr>
          <p:cNvSpPr txBox="1"/>
          <p:nvPr/>
        </p:nvSpPr>
        <p:spPr>
          <a:xfrm>
            <a:off x="863600" y="3937000"/>
            <a:ext cx="2082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Data Dasar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A7E84C-81D1-5047-82EE-2DB7A14DE886}"/>
              </a:ext>
            </a:extLst>
          </p:cNvPr>
          <p:cNvSpPr/>
          <p:nvPr/>
        </p:nvSpPr>
        <p:spPr>
          <a:xfrm>
            <a:off x="3556000" y="3098800"/>
            <a:ext cx="2286000" cy="1676400"/>
          </a:xfrm>
          <a:prstGeom prst="roundRect">
            <a:avLst/>
          </a:prstGeom>
          <a:solidFill>
            <a:srgbClr val="2F70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2F6874-A1DA-4E43-B94A-EAD970CADDC3}"/>
              </a:ext>
            </a:extLst>
          </p:cNvPr>
          <p:cNvSpPr/>
          <p:nvPr/>
        </p:nvSpPr>
        <p:spPr>
          <a:xfrm>
            <a:off x="4445000" y="3327400"/>
            <a:ext cx="5080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F70B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EE136-10D0-3F43-8534-EEC40C9434DF}"/>
              </a:ext>
            </a:extLst>
          </p:cNvPr>
          <p:cNvSpPr txBox="1"/>
          <p:nvPr/>
        </p:nvSpPr>
        <p:spPr>
          <a:xfrm>
            <a:off x="3657600" y="3937000"/>
            <a:ext cx="2082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Jenis Layanan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8B171A-F888-3042-B348-493641B23E6D}"/>
              </a:ext>
            </a:extLst>
          </p:cNvPr>
          <p:cNvSpPr/>
          <p:nvPr/>
        </p:nvSpPr>
        <p:spPr>
          <a:xfrm>
            <a:off x="6350000" y="3098800"/>
            <a:ext cx="2286000" cy="1676400"/>
          </a:xfrm>
          <a:prstGeom prst="roundRect">
            <a:avLst/>
          </a:prstGeom>
          <a:solidFill>
            <a:srgbClr val="234E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9B8FE8-8AD1-C84B-AC30-D39232A67E47}"/>
              </a:ext>
            </a:extLst>
          </p:cNvPr>
          <p:cNvSpPr/>
          <p:nvPr/>
        </p:nvSpPr>
        <p:spPr>
          <a:xfrm>
            <a:off x="7239000" y="3327400"/>
            <a:ext cx="5080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34E82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1CDAA5-7873-E048-B897-C01D6F0E563B}"/>
              </a:ext>
            </a:extLst>
          </p:cNvPr>
          <p:cNvSpPr txBox="1"/>
          <p:nvPr/>
        </p:nvSpPr>
        <p:spPr>
          <a:xfrm>
            <a:off x="6451600" y="3937000"/>
            <a:ext cx="2082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Pendalaman Layanan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D716BE-2D0D-C74D-870D-1689D7D70DC0}"/>
              </a:ext>
            </a:extLst>
          </p:cNvPr>
          <p:cNvSpPr/>
          <p:nvPr/>
        </p:nvSpPr>
        <p:spPr>
          <a:xfrm>
            <a:off x="9144000" y="3098800"/>
            <a:ext cx="2286000" cy="1676400"/>
          </a:xfrm>
          <a:prstGeom prst="roundRect">
            <a:avLst/>
          </a:prstGeom>
          <a:solidFill>
            <a:srgbClr val="1430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66E87D-9458-0C48-8254-F0F47FF1FEAE}"/>
              </a:ext>
            </a:extLst>
          </p:cNvPr>
          <p:cNvSpPr/>
          <p:nvPr/>
        </p:nvSpPr>
        <p:spPr>
          <a:xfrm>
            <a:off x="10033000" y="3327400"/>
            <a:ext cx="508000" cy="508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4304F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335BCF-3DD9-374D-8254-9E4D9DE8B105}"/>
              </a:ext>
            </a:extLst>
          </p:cNvPr>
          <p:cNvSpPr txBox="1"/>
          <p:nvPr/>
        </p:nvSpPr>
        <p:spPr>
          <a:xfrm>
            <a:off x="9245600" y="3937000"/>
            <a:ext cx="20828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Detail Operasional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C963A6D-644A-BC44-B088-34F200F322EF}"/>
              </a:ext>
            </a:extLst>
          </p:cNvPr>
          <p:cNvSpPr/>
          <p:nvPr/>
        </p:nvSpPr>
        <p:spPr>
          <a:xfrm>
            <a:off x="3048000" y="3708400"/>
            <a:ext cx="508000" cy="457200"/>
          </a:xfrm>
          <a:prstGeom prst="right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A1140EAC-27F7-D342-AFC5-78F893568217}"/>
              </a:ext>
            </a:extLst>
          </p:cNvPr>
          <p:cNvSpPr/>
          <p:nvPr/>
        </p:nvSpPr>
        <p:spPr>
          <a:xfrm>
            <a:off x="5842000" y="3708400"/>
            <a:ext cx="508000" cy="457200"/>
          </a:xfrm>
          <a:prstGeom prst="right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55EBAF4D-E6D2-6041-A36E-B02A92B51B22}"/>
              </a:ext>
            </a:extLst>
          </p:cNvPr>
          <p:cNvSpPr/>
          <p:nvPr/>
        </p:nvSpPr>
        <p:spPr>
          <a:xfrm>
            <a:off x="8636000" y="3708400"/>
            <a:ext cx="508000" cy="457200"/>
          </a:xfrm>
          <a:prstGeom prst="right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1E31BC-C550-0842-90E0-9486BDCECAF8}"/>
              </a:ext>
            </a:extLst>
          </p:cNvPr>
          <p:cNvSpPr/>
          <p:nvPr/>
        </p:nvSpPr>
        <p:spPr>
          <a:xfrm>
            <a:off x="762000" y="5283200"/>
            <a:ext cx="10668000" cy="609600"/>
          </a:xfrm>
          <a:prstGeom prst="roundRect">
            <a:avLst/>
          </a:prstGeom>
          <a:solidFill>
            <a:srgbClr val="FFF7E6"/>
          </a:solidFill>
          <a:ln w="12700" cap="flat" cmpd="sng" algn="ctr">
            <a:solidFill>
              <a:srgbClr val="FFBF4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1A1A"/>
                </a:solidFill>
              </a:rPr>
              <a:t>Tanda panah kuning menandai titik percabangan — jawaban surveyor menentukan tahap berikutnya.</a:t>
            </a:r>
          </a:p>
        </p:txBody>
      </p:sp>
    </p:spTree>
    <p:extLst>
      <p:ext uri="{BB962C8B-B14F-4D97-AF65-F5344CB8AC3E}">
        <p14:creationId xmlns:p14="http://schemas.microsoft.com/office/powerpoint/2010/main" val="101872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5801-3BCA-51C8-2698-911080F2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Tahap 1 — Data Dasar Fasilitas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EBFD7-6C7C-C144-8367-6636FD92DE65}"/>
              </a:ext>
            </a:extLst>
          </p:cNvPr>
          <p:cNvSpPr txBox="1"/>
          <p:nvPr/>
        </p:nvSpPr>
        <p:spPr>
          <a:xfrm>
            <a:off x="762000" y="1905000"/>
            <a:ext cx="596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2A68A8"/>
                </a:solidFill>
              </a:rPr>
              <a:t>Data yang Dikumpulkan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1F3E68-6CDC-A144-A682-0DB36805F03F}"/>
              </a:ext>
            </a:extLst>
          </p:cNvPr>
          <p:cNvSpPr/>
          <p:nvPr/>
        </p:nvSpPr>
        <p:spPr>
          <a:xfrm>
            <a:off x="812800" y="24892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7F1E1-0DD8-E440-8FBB-6B2587D9F7CF}"/>
              </a:ext>
            </a:extLst>
          </p:cNvPr>
          <p:cNvSpPr txBox="1"/>
          <p:nvPr/>
        </p:nvSpPr>
        <p:spPr>
          <a:xfrm>
            <a:off x="1092200" y="2413000"/>
            <a:ext cx="563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Nama fasilitas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73CBEB-36A1-D54D-AB86-51526062B77D}"/>
              </a:ext>
            </a:extLst>
          </p:cNvPr>
          <p:cNvSpPr/>
          <p:nvPr/>
        </p:nvSpPr>
        <p:spPr>
          <a:xfrm>
            <a:off x="812800" y="29464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E818C-BFE2-5F40-8AD1-4DDDF9FE2753}"/>
              </a:ext>
            </a:extLst>
          </p:cNvPr>
          <p:cNvSpPr txBox="1"/>
          <p:nvPr/>
        </p:nvSpPr>
        <p:spPr>
          <a:xfrm>
            <a:off x="1092200" y="2870200"/>
            <a:ext cx="563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Bidang pelayanan — keswa, sosial, pendidikan, lainnya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78F47C-E6CE-A345-A2BC-AC782E3D933C}"/>
              </a:ext>
            </a:extLst>
          </p:cNvPr>
          <p:cNvSpPr/>
          <p:nvPr/>
        </p:nvSpPr>
        <p:spPr>
          <a:xfrm>
            <a:off x="812800" y="34036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C1914-85C6-3143-923C-EEF3E6B5168F}"/>
              </a:ext>
            </a:extLst>
          </p:cNvPr>
          <p:cNvSpPr txBox="1"/>
          <p:nvPr/>
        </p:nvSpPr>
        <p:spPr>
          <a:xfrm>
            <a:off x="1092200" y="3327400"/>
            <a:ext cx="563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Alamat, telepon, email, website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64DDA5-5514-9840-9094-D176ED3F9B62}"/>
              </a:ext>
            </a:extLst>
          </p:cNvPr>
          <p:cNvSpPr/>
          <p:nvPr/>
        </p:nvSpPr>
        <p:spPr>
          <a:xfrm>
            <a:off x="812800" y="38608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7A169-6A38-D247-88D2-864C789AA034}"/>
              </a:ext>
            </a:extLst>
          </p:cNvPr>
          <p:cNvSpPr txBox="1"/>
          <p:nvPr/>
        </p:nvSpPr>
        <p:spPr>
          <a:xfrm>
            <a:off x="1092200" y="3784600"/>
            <a:ext cx="563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Badan hukum, izin, tahun beroperasi, cakupan wilayah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594246E-9329-9549-BAF6-EC89D4959C12}"/>
              </a:ext>
            </a:extLst>
          </p:cNvPr>
          <p:cNvSpPr/>
          <p:nvPr/>
        </p:nvSpPr>
        <p:spPr>
          <a:xfrm>
            <a:off x="762000" y="4419600"/>
            <a:ext cx="5969000" cy="635000"/>
          </a:xfrm>
          <a:prstGeom prst="roundRect">
            <a:avLst/>
          </a:prstGeom>
          <a:solidFill>
            <a:srgbClr val="FFF7E6"/>
          </a:solidFill>
          <a:ln w="15875" cap="flat" cmpd="sng" algn="ctr">
            <a:solidFill>
              <a:srgbClr val="FFBF4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1A1A"/>
                </a:solidFill>
              </a:rPr>
              <a:t>Masih beroperasi?  →  jika Tidak, survey langsung selesai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5DFAD7-3BFD-4140-8268-10BC1A757029}"/>
              </a:ext>
            </a:extLst>
          </p:cNvPr>
          <p:cNvSpPr/>
          <p:nvPr/>
        </p:nvSpPr>
        <p:spPr>
          <a:xfrm>
            <a:off x="762000" y="5181600"/>
            <a:ext cx="5969000" cy="635000"/>
          </a:xfrm>
          <a:prstGeom prst="roundRect">
            <a:avLst/>
          </a:prstGeom>
          <a:solidFill>
            <a:srgbClr val="FFF7E6"/>
          </a:solidFill>
          <a:ln w="15875" cap="flat" cmpd="sng" algn="ctr">
            <a:solidFill>
              <a:srgbClr val="FFBF4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1A1A"/>
                </a:solidFill>
              </a:rPr>
              <a:t>Jenis fasilitas  →  menentukan jalur: faskes / non-faskes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5EF8D-9AEB-1940-BBED-1A5E4A97AAAA}"/>
              </a:ext>
            </a:extLst>
          </p:cNvPr>
          <p:cNvSpPr txBox="1"/>
          <p:nvPr/>
        </p:nvSpPr>
        <p:spPr>
          <a:xfrm>
            <a:off x="7112000" y="19050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2A68A8"/>
                </a:solidFill>
              </a:rPr>
              <a:t>Lokasi Berjenjang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C4852B3-30F9-1048-A2F1-1095813FF44F}"/>
              </a:ext>
            </a:extLst>
          </p:cNvPr>
          <p:cNvSpPr/>
          <p:nvPr/>
        </p:nvSpPr>
        <p:spPr>
          <a:xfrm>
            <a:off x="7366000" y="2413000"/>
            <a:ext cx="3810000" cy="711200"/>
          </a:xfrm>
          <a:prstGeom prst="roundRect">
            <a:avLst/>
          </a:prstGeom>
          <a:solidFill>
            <a:srgbClr val="3D7B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Provinsi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005445A3-A61B-E34C-8240-4E85F8B0EDC6}"/>
              </a:ext>
            </a:extLst>
          </p:cNvPr>
          <p:cNvSpPr/>
          <p:nvPr/>
        </p:nvSpPr>
        <p:spPr>
          <a:xfrm>
            <a:off x="9156700" y="3149600"/>
            <a:ext cx="228600" cy="1778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3CE211-1863-FA45-8A11-3143D2E3352C}"/>
              </a:ext>
            </a:extLst>
          </p:cNvPr>
          <p:cNvSpPr/>
          <p:nvPr/>
        </p:nvSpPr>
        <p:spPr>
          <a:xfrm>
            <a:off x="7366000" y="3352800"/>
            <a:ext cx="3810000" cy="711200"/>
          </a:xfrm>
          <a:prstGeom prst="roundRect">
            <a:avLst/>
          </a:prstGeom>
          <a:solidFill>
            <a:srgbClr val="2F70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Kabupaten / Kota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A9D30A3B-89F4-4B47-B97B-93D8387FDDE4}"/>
              </a:ext>
            </a:extLst>
          </p:cNvPr>
          <p:cNvSpPr/>
          <p:nvPr/>
        </p:nvSpPr>
        <p:spPr>
          <a:xfrm>
            <a:off x="9156700" y="4089400"/>
            <a:ext cx="228600" cy="1778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FD76D3C-184A-1249-ABAF-46FF0A035273}"/>
              </a:ext>
            </a:extLst>
          </p:cNvPr>
          <p:cNvSpPr/>
          <p:nvPr/>
        </p:nvSpPr>
        <p:spPr>
          <a:xfrm>
            <a:off x="7366000" y="4292600"/>
            <a:ext cx="3810000" cy="711200"/>
          </a:xfrm>
          <a:prstGeom prst="roundRect">
            <a:avLst/>
          </a:prstGeom>
          <a:solidFill>
            <a:srgbClr val="234E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Kecamatan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866AA651-AB65-EF4D-A391-5627992C43CF}"/>
              </a:ext>
            </a:extLst>
          </p:cNvPr>
          <p:cNvSpPr/>
          <p:nvPr/>
        </p:nvSpPr>
        <p:spPr>
          <a:xfrm>
            <a:off x="9156700" y="5029200"/>
            <a:ext cx="228600" cy="1778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29412DE-B8AF-EC4F-8AAD-445B971EA068}"/>
              </a:ext>
            </a:extLst>
          </p:cNvPr>
          <p:cNvSpPr/>
          <p:nvPr/>
        </p:nvSpPr>
        <p:spPr>
          <a:xfrm>
            <a:off x="7366000" y="5232400"/>
            <a:ext cx="3810000" cy="711200"/>
          </a:xfrm>
          <a:prstGeom prst="roundRect">
            <a:avLst/>
          </a:prstGeom>
          <a:solidFill>
            <a:srgbClr val="1430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Desa / Kelurahan</a:t>
            </a:r>
          </a:p>
        </p:txBody>
      </p:sp>
    </p:spTree>
    <p:extLst>
      <p:ext uri="{BB962C8B-B14F-4D97-AF65-F5344CB8AC3E}">
        <p14:creationId xmlns:p14="http://schemas.microsoft.com/office/powerpoint/2010/main" val="168161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8382-33D5-173D-2A4F-82648D84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Tahap 2 — Pilih Jenis Layanan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25485-E0AA-2042-B828-FEC6A842A7D1}"/>
              </a:ext>
            </a:extLst>
          </p:cNvPr>
          <p:cNvSpPr txBox="1"/>
          <p:nvPr/>
        </p:nvSpPr>
        <p:spPr>
          <a:xfrm>
            <a:off x="762000" y="18542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Sistem otomatis menampilkan daftar layanan sesuai jenis fasilitas yang dipilih pada Tahap 1.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082C35-551E-4848-9875-E2A0AE702090}"/>
              </a:ext>
            </a:extLst>
          </p:cNvPr>
          <p:cNvSpPr/>
          <p:nvPr/>
        </p:nvSpPr>
        <p:spPr>
          <a:xfrm>
            <a:off x="762000" y="2362200"/>
            <a:ext cx="5080000" cy="406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00B4EC-3A2F-3F48-9513-46E002E970F7}"/>
              </a:ext>
            </a:extLst>
          </p:cNvPr>
          <p:cNvSpPr/>
          <p:nvPr/>
        </p:nvSpPr>
        <p:spPr>
          <a:xfrm>
            <a:off x="762000" y="2362200"/>
            <a:ext cx="5080000" cy="7112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Faskes — Kesehatan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B13BC4-4BC7-D049-A455-DA16CBCD5021}"/>
              </a:ext>
            </a:extLst>
          </p:cNvPr>
          <p:cNvSpPr/>
          <p:nvPr/>
        </p:nvSpPr>
        <p:spPr>
          <a:xfrm>
            <a:off x="1092200" y="33909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FE91E-A8A5-6244-8EB7-D22B47A2F1BA}"/>
              </a:ext>
            </a:extLst>
          </p:cNvPr>
          <p:cNvSpPr txBox="1"/>
          <p:nvPr/>
        </p:nvSpPr>
        <p:spPr>
          <a:xfrm>
            <a:off x="1371600" y="33274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Rawat Inap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AAA992-9824-3948-B00D-CB290D45FEC5}"/>
              </a:ext>
            </a:extLst>
          </p:cNvPr>
          <p:cNvSpPr/>
          <p:nvPr/>
        </p:nvSpPr>
        <p:spPr>
          <a:xfrm>
            <a:off x="1092200" y="3848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7D2CC-24B8-7A4D-A627-EDFABAADFD98}"/>
              </a:ext>
            </a:extLst>
          </p:cNvPr>
          <p:cNvSpPr txBox="1"/>
          <p:nvPr/>
        </p:nvSpPr>
        <p:spPr>
          <a:xfrm>
            <a:off x="1371600" y="37846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Perawatan Harian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58D5EC-2C33-0D4E-B093-7D2E24EED430}"/>
              </a:ext>
            </a:extLst>
          </p:cNvPr>
          <p:cNvSpPr/>
          <p:nvPr/>
        </p:nvSpPr>
        <p:spPr>
          <a:xfrm>
            <a:off x="1092200" y="43053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B9B5-BF83-8147-8BDE-1BB62E300A5E}"/>
              </a:ext>
            </a:extLst>
          </p:cNvPr>
          <p:cNvSpPr txBox="1"/>
          <p:nvPr/>
        </p:nvSpPr>
        <p:spPr>
          <a:xfrm>
            <a:off x="1371600" y="42418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Rawat Jalan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CEA9DE-14E8-3742-8AA7-C471FDB19B1C}"/>
              </a:ext>
            </a:extLst>
          </p:cNvPr>
          <p:cNvSpPr/>
          <p:nvPr/>
        </p:nvSpPr>
        <p:spPr>
          <a:xfrm>
            <a:off x="1092200" y="47625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0FCBE-CAAF-9940-BE71-8F2A2C1EFBB6}"/>
              </a:ext>
            </a:extLst>
          </p:cNvPr>
          <p:cNvSpPr txBox="1"/>
          <p:nvPr/>
        </p:nvSpPr>
        <p:spPr>
          <a:xfrm>
            <a:off x="1371600" y="46990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Aksesibilitas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6CCAE4-E4D0-8D4B-906F-2950A9428F0F}"/>
              </a:ext>
            </a:extLst>
          </p:cNvPr>
          <p:cNvSpPr/>
          <p:nvPr/>
        </p:nvSpPr>
        <p:spPr>
          <a:xfrm>
            <a:off x="1092200" y="52197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242057-E803-9248-AE9B-57BFC2DDD350}"/>
              </a:ext>
            </a:extLst>
          </p:cNvPr>
          <p:cNvSpPr txBox="1"/>
          <p:nvPr/>
        </p:nvSpPr>
        <p:spPr>
          <a:xfrm>
            <a:off x="1371600" y="51562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Informasi &amp; Konsultasi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580170-1CCB-C84B-8EC0-BA077FA082CE}"/>
              </a:ext>
            </a:extLst>
          </p:cNvPr>
          <p:cNvSpPr txBox="1"/>
          <p:nvPr/>
        </p:nvSpPr>
        <p:spPr>
          <a:xfrm>
            <a:off x="1066800" y="5715000"/>
            <a:ext cx="44704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B7280"/>
                </a:solidFill>
              </a:rPr>
              <a:t>Fasilitas kesehatan formal (RS, Puskesmas, klinik).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0E537E-D7F5-DC4A-BEC4-D028339063CE}"/>
              </a:ext>
            </a:extLst>
          </p:cNvPr>
          <p:cNvSpPr/>
          <p:nvPr/>
        </p:nvSpPr>
        <p:spPr>
          <a:xfrm>
            <a:off x="6350000" y="2362200"/>
            <a:ext cx="5080000" cy="406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18795A-A283-534E-93E0-CB690AAB8702}"/>
              </a:ext>
            </a:extLst>
          </p:cNvPr>
          <p:cNvSpPr/>
          <p:nvPr/>
        </p:nvSpPr>
        <p:spPr>
          <a:xfrm>
            <a:off x="6350000" y="2362200"/>
            <a:ext cx="5080000" cy="711200"/>
          </a:xfrm>
          <a:prstGeom prst="round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Non-Faskes — Sosial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1EED83-523C-CB46-9A4D-BE24C36C80C1}"/>
              </a:ext>
            </a:extLst>
          </p:cNvPr>
          <p:cNvSpPr/>
          <p:nvPr/>
        </p:nvSpPr>
        <p:spPr>
          <a:xfrm>
            <a:off x="6680200" y="33909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96901-1D00-AC4A-99FE-79057688DAE3}"/>
              </a:ext>
            </a:extLst>
          </p:cNvPr>
          <p:cNvSpPr txBox="1"/>
          <p:nvPr/>
        </p:nvSpPr>
        <p:spPr>
          <a:xfrm>
            <a:off x="6959600" y="33274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Rawat Inap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ED9A33-5C63-8D4E-B5D0-04878E7FA558}"/>
              </a:ext>
            </a:extLst>
          </p:cNvPr>
          <p:cNvSpPr/>
          <p:nvPr/>
        </p:nvSpPr>
        <p:spPr>
          <a:xfrm>
            <a:off x="6680200" y="38481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FC09A-6EE8-F44A-B5BA-0EFDA5B409E2}"/>
              </a:ext>
            </a:extLst>
          </p:cNvPr>
          <p:cNvSpPr txBox="1"/>
          <p:nvPr/>
        </p:nvSpPr>
        <p:spPr>
          <a:xfrm>
            <a:off x="6959600" y="37846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Perawatan Harian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43D24E-BB7F-494C-B527-1B143B5C1D56}"/>
              </a:ext>
            </a:extLst>
          </p:cNvPr>
          <p:cNvSpPr/>
          <p:nvPr/>
        </p:nvSpPr>
        <p:spPr>
          <a:xfrm>
            <a:off x="6680200" y="43053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D10C54-40D0-154B-917F-6DC1647A4348}"/>
              </a:ext>
            </a:extLst>
          </p:cNvPr>
          <p:cNvSpPr txBox="1"/>
          <p:nvPr/>
        </p:nvSpPr>
        <p:spPr>
          <a:xfrm>
            <a:off x="6959600" y="42418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Rawat Jalan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20CF24-AFDF-BA49-888C-AF54D6A92000}"/>
              </a:ext>
            </a:extLst>
          </p:cNvPr>
          <p:cNvSpPr/>
          <p:nvPr/>
        </p:nvSpPr>
        <p:spPr>
          <a:xfrm>
            <a:off x="6680200" y="47625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06356C-FF8E-9E4A-8DE7-D16D11008160}"/>
              </a:ext>
            </a:extLst>
          </p:cNvPr>
          <p:cNvSpPr txBox="1"/>
          <p:nvPr/>
        </p:nvSpPr>
        <p:spPr>
          <a:xfrm>
            <a:off x="6959600" y="46990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Aksesibilitas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955232-35B4-6246-AEB1-33D002722EA7}"/>
              </a:ext>
            </a:extLst>
          </p:cNvPr>
          <p:cNvSpPr/>
          <p:nvPr/>
        </p:nvSpPr>
        <p:spPr>
          <a:xfrm>
            <a:off x="6680200" y="52197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9F8752-84DF-C142-BB6D-9DAB49B0F7B0}"/>
              </a:ext>
            </a:extLst>
          </p:cNvPr>
          <p:cNvSpPr txBox="1"/>
          <p:nvPr/>
        </p:nvSpPr>
        <p:spPr>
          <a:xfrm>
            <a:off x="6959600" y="51562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Informasi &amp; Konsultasi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FDD06B-FF16-634A-9E63-28F924DAFDE3}"/>
              </a:ext>
            </a:extLst>
          </p:cNvPr>
          <p:cNvSpPr txBox="1"/>
          <p:nvPr/>
        </p:nvSpPr>
        <p:spPr>
          <a:xfrm>
            <a:off x="6654800" y="5715000"/>
            <a:ext cx="44704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6B7280"/>
                </a:solidFill>
              </a:rPr>
              <a:t>Versi sosial dari kelima layanan di samping (panti, LSM, layanan sosial).</a:t>
            </a:r>
          </a:p>
        </p:txBody>
      </p:sp>
    </p:spTree>
    <p:extLst>
      <p:ext uri="{BB962C8B-B14F-4D97-AF65-F5344CB8AC3E}">
        <p14:creationId xmlns:p14="http://schemas.microsoft.com/office/powerpoint/2010/main" val="7143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60FB-943D-9059-6B37-EE14EE46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Tahap 3 &amp; 4 — Detail per Layanan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542E0E-F5C3-704D-8648-4F180FB4E649}"/>
              </a:ext>
            </a:extLst>
          </p:cNvPr>
          <p:cNvSpPr/>
          <p:nvPr/>
        </p:nvSpPr>
        <p:spPr>
          <a:xfrm>
            <a:off x="762000" y="2133600"/>
            <a:ext cx="5080000" cy="4318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F70148-3DC9-EA4E-BF1A-DF8E708B8CF8}"/>
              </a:ext>
            </a:extLst>
          </p:cNvPr>
          <p:cNvSpPr/>
          <p:nvPr/>
        </p:nvSpPr>
        <p:spPr>
          <a:xfrm>
            <a:off x="1066800" y="2413000"/>
            <a:ext cx="635000" cy="635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9C3E7-EC23-5546-B73F-7F43E25DC318}"/>
              </a:ext>
            </a:extLst>
          </p:cNvPr>
          <p:cNvSpPr txBox="1"/>
          <p:nvPr/>
        </p:nvSpPr>
        <p:spPr>
          <a:xfrm>
            <a:off x="1879600" y="2463800"/>
            <a:ext cx="3708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4304F"/>
                </a:solidFill>
              </a:rPr>
              <a:t>Pendalaman Layanan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E23C4C-CB46-504F-93AF-F91F0F470B73}"/>
              </a:ext>
            </a:extLst>
          </p:cNvPr>
          <p:cNvSpPr/>
          <p:nvPr/>
        </p:nvSpPr>
        <p:spPr>
          <a:xfrm>
            <a:off x="1117600" y="3340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FB70C-8004-554F-A77C-BABF8BFBADC2}"/>
              </a:ext>
            </a:extLst>
          </p:cNvPr>
          <p:cNvSpPr txBox="1"/>
          <p:nvPr/>
        </p:nvSpPr>
        <p:spPr>
          <a:xfrm>
            <a:off x="1397000" y="3276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Layanan akut atau non-akut?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8A8423-E4C9-444E-8DE7-94E74E590DB0}"/>
              </a:ext>
            </a:extLst>
          </p:cNvPr>
          <p:cNvSpPr/>
          <p:nvPr/>
        </p:nvSpPr>
        <p:spPr>
          <a:xfrm>
            <a:off x="1117600" y="3848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0ACE3-1CD5-674F-A473-35861390C5D4}"/>
              </a:ext>
            </a:extLst>
          </p:cNvPr>
          <p:cNvSpPr txBox="1"/>
          <p:nvPr/>
        </p:nvSpPr>
        <p:spPr>
          <a:xfrm>
            <a:off x="1397000" y="3784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Pemantauan / dokter 24 jam?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F4754E-FF01-5A44-B472-8A0657684FD7}"/>
              </a:ext>
            </a:extLst>
          </p:cNvPr>
          <p:cNvSpPr/>
          <p:nvPr/>
        </p:nvSpPr>
        <p:spPr>
          <a:xfrm>
            <a:off x="1117600" y="4356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994F3-0F9A-4B4A-AF30-64661F92F463}"/>
              </a:ext>
            </a:extLst>
          </p:cNvPr>
          <p:cNvSpPr txBox="1"/>
          <p:nvPr/>
        </p:nvSpPr>
        <p:spPr>
          <a:xfrm>
            <a:off x="1397000" y="4292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Penanganan krisis, stabilisasi &amp; durasi layanan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773AAE-6CCA-4D4C-A560-C409844F797A}"/>
              </a:ext>
            </a:extLst>
          </p:cNvPr>
          <p:cNvSpPr/>
          <p:nvPr/>
        </p:nvSpPr>
        <p:spPr>
          <a:xfrm>
            <a:off x="6350000" y="2133600"/>
            <a:ext cx="5080000" cy="4318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B7C469-32B9-8C45-BD50-3FF086F62D65}"/>
              </a:ext>
            </a:extLst>
          </p:cNvPr>
          <p:cNvSpPr/>
          <p:nvPr/>
        </p:nvSpPr>
        <p:spPr>
          <a:xfrm>
            <a:off x="6654800" y="2413000"/>
            <a:ext cx="635000" cy="635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8D553-7BFA-6A49-9071-099A26AB2197}"/>
              </a:ext>
            </a:extLst>
          </p:cNvPr>
          <p:cNvSpPr txBox="1"/>
          <p:nvPr/>
        </p:nvSpPr>
        <p:spPr>
          <a:xfrm>
            <a:off x="7467600" y="2463800"/>
            <a:ext cx="3708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14304F"/>
                </a:solidFill>
              </a:rPr>
              <a:t>Detail Operasional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57DA76D-AF9E-C74D-B162-A36231D634BA}"/>
              </a:ext>
            </a:extLst>
          </p:cNvPr>
          <p:cNvSpPr/>
          <p:nvPr/>
        </p:nvSpPr>
        <p:spPr>
          <a:xfrm>
            <a:off x="6705600" y="3340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D85F71-BBCC-8D45-A8ED-934DCFD48E5E}"/>
              </a:ext>
            </a:extLst>
          </p:cNvPr>
          <p:cNvSpPr txBox="1"/>
          <p:nvPr/>
        </p:nvSpPr>
        <p:spPr>
          <a:xfrm>
            <a:off x="6985000" y="3276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Kapasitas — tempat tidur &amp; terisi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BB8B42-2F52-724F-A90E-17F6A720EC12}"/>
              </a:ext>
            </a:extLst>
          </p:cNvPr>
          <p:cNvSpPr/>
          <p:nvPr/>
        </p:nvSpPr>
        <p:spPr>
          <a:xfrm>
            <a:off x="6705600" y="3848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48410-8A39-5D40-982E-F1B4B416608F}"/>
              </a:ext>
            </a:extLst>
          </p:cNvPr>
          <p:cNvSpPr txBox="1"/>
          <p:nvPr/>
        </p:nvSpPr>
        <p:spPr>
          <a:xfrm>
            <a:off x="6985000" y="3784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Jenis kelamin &amp; usia pasien dilayani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A92F66-19AF-614B-BF60-62F47E2B6B6F}"/>
              </a:ext>
            </a:extLst>
          </p:cNvPr>
          <p:cNvSpPr/>
          <p:nvPr/>
        </p:nvSpPr>
        <p:spPr>
          <a:xfrm>
            <a:off x="6705600" y="43561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FE1627-C112-CF43-8BC4-1E41D0F1DCCF}"/>
              </a:ext>
            </a:extLst>
          </p:cNvPr>
          <p:cNvSpPr txBox="1"/>
          <p:nvPr/>
        </p:nvSpPr>
        <p:spPr>
          <a:xfrm>
            <a:off x="6985000" y="4292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Estimasi pasien per tahun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F41C87-9058-B04B-927F-CF79CDE308AD}"/>
              </a:ext>
            </a:extLst>
          </p:cNvPr>
          <p:cNvSpPr/>
          <p:nvPr/>
        </p:nvSpPr>
        <p:spPr>
          <a:xfrm>
            <a:off x="6705600" y="4864100"/>
            <a:ext cx="139700" cy="139700"/>
          </a:xfrm>
          <a:prstGeom prst="ellipse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1C2DDE-086E-0A42-A676-BA75E065C86C}"/>
              </a:ext>
            </a:extLst>
          </p:cNvPr>
          <p:cNvSpPr txBox="1"/>
          <p:nvPr/>
        </p:nvSpPr>
        <p:spPr>
          <a:xfrm>
            <a:off x="6985000" y="48006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 b="1">
                <a:solidFill>
                  <a:srgbClr val="1A1A1A"/>
                </a:solidFill>
              </a:rPr>
              <a:t>Metode pembayaran → jika mandiri, muncul tarif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EEDCB2-140B-0D49-8DBC-3E107304D746}"/>
              </a:ext>
            </a:extLst>
          </p:cNvPr>
          <p:cNvSpPr/>
          <p:nvPr/>
        </p:nvSpPr>
        <p:spPr>
          <a:xfrm>
            <a:off x="6705600" y="5473700"/>
            <a:ext cx="139700" cy="1397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24FBD8-38A7-5B48-8CBE-9A9EA75EBC2B}"/>
              </a:ext>
            </a:extLst>
          </p:cNvPr>
          <p:cNvSpPr txBox="1"/>
          <p:nvPr/>
        </p:nvSpPr>
        <p:spPr>
          <a:xfrm>
            <a:off x="6985000" y="5410200"/>
            <a:ext cx="411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50">
                <a:solidFill>
                  <a:srgbClr val="1A1A1A"/>
                </a:solidFill>
              </a:rPr>
              <a:t>Kegiatan layanan, data staf &amp; kemitraan</a:t>
            </a:r>
          </a:p>
        </p:txBody>
      </p:sp>
    </p:spTree>
    <p:extLst>
      <p:ext uri="{BB962C8B-B14F-4D97-AF65-F5344CB8AC3E}">
        <p14:creationId xmlns:p14="http://schemas.microsoft.com/office/powerpoint/2010/main" val="79260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521E-AA99-8973-B246-13896D1B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/>
              <a:t>Cara Pakai — Verifikator &amp; Admin (Dashboard Web)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E16CFD-385C-4241-88E6-381F0FCDA5BB}"/>
              </a:ext>
            </a:extLst>
          </p:cNvPr>
          <p:cNvSpPr/>
          <p:nvPr/>
        </p:nvSpPr>
        <p:spPr>
          <a:xfrm>
            <a:off x="762000" y="1905000"/>
            <a:ext cx="10668000" cy="6858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0A092B-F195-1A41-8D86-796D8F9CCBFD}"/>
              </a:ext>
            </a:extLst>
          </p:cNvPr>
          <p:cNvSpPr/>
          <p:nvPr/>
        </p:nvSpPr>
        <p:spPr>
          <a:xfrm>
            <a:off x="914400" y="20066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01FED-8747-EB47-8CDA-450017072291}"/>
              </a:ext>
            </a:extLst>
          </p:cNvPr>
          <p:cNvSpPr txBox="1"/>
          <p:nvPr/>
        </p:nvSpPr>
        <p:spPr>
          <a:xfrm>
            <a:off x="1600200" y="19050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Login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8DB38-F928-C845-B2B4-DECFE83CE00F}"/>
              </a:ext>
            </a:extLst>
          </p:cNvPr>
          <p:cNvSpPr txBox="1"/>
          <p:nvPr/>
        </p:nvSpPr>
        <p:spPr>
          <a:xfrm>
            <a:off x="4699000" y="19050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Masuk ke dashboard web.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1FC8E7-FCA8-4B41-B329-85BD841392A7}"/>
              </a:ext>
            </a:extLst>
          </p:cNvPr>
          <p:cNvSpPr/>
          <p:nvPr/>
        </p:nvSpPr>
        <p:spPr>
          <a:xfrm>
            <a:off x="762000" y="2679700"/>
            <a:ext cx="10668000" cy="68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D6A01D-1548-2243-A4A4-A9825EE9C4E2}"/>
              </a:ext>
            </a:extLst>
          </p:cNvPr>
          <p:cNvSpPr/>
          <p:nvPr/>
        </p:nvSpPr>
        <p:spPr>
          <a:xfrm>
            <a:off x="914400" y="27813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1E446-6508-2945-A062-46FD01EEB395}"/>
              </a:ext>
            </a:extLst>
          </p:cNvPr>
          <p:cNvSpPr txBox="1"/>
          <p:nvPr/>
        </p:nvSpPr>
        <p:spPr>
          <a:xfrm>
            <a:off x="1600200" y="26797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Antrian Verifikasi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B2A15-22F7-D942-BD10-2FF0F08E398D}"/>
              </a:ext>
            </a:extLst>
          </p:cNvPr>
          <p:cNvSpPr txBox="1"/>
          <p:nvPr/>
        </p:nvSpPr>
        <p:spPr>
          <a:xfrm>
            <a:off x="4699000" y="26797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Buka daftar survey yang masuk.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AB696B-775E-DA4F-BCC3-F14C9E3A77B8}"/>
              </a:ext>
            </a:extLst>
          </p:cNvPr>
          <p:cNvSpPr/>
          <p:nvPr/>
        </p:nvSpPr>
        <p:spPr>
          <a:xfrm>
            <a:off x="762000" y="3454400"/>
            <a:ext cx="10668000" cy="6858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29588-B25A-F148-9A9B-0F8A789AF998}"/>
              </a:ext>
            </a:extLst>
          </p:cNvPr>
          <p:cNvSpPr/>
          <p:nvPr/>
        </p:nvSpPr>
        <p:spPr>
          <a:xfrm>
            <a:off x="914400" y="35560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DFC78-B400-2D4C-B0FC-2F3795AAA526}"/>
              </a:ext>
            </a:extLst>
          </p:cNvPr>
          <p:cNvSpPr txBox="1"/>
          <p:nvPr/>
        </p:nvSpPr>
        <p:spPr>
          <a:xfrm>
            <a:off x="1600200" y="34544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Periksa Detail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D65EB-512E-E243-B42B-5624E6EF15D7}"/>
              </a:ext>
            </a:extLst>
          </p:cNvPr>
          <p:cNvSpPr txBox="1"/>
          <p:nvPr/>
        </p:nvSpPr>
        <p:spPr>
          <a:xfrm>
            <a:off x="4699000" y="34544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Tinjau seluruh isian tiap survey.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E1BB97-217F-A64C-9D86-1CC31EBEC6EE}"/>
              </a:ext>
            </a:extLst>
          </p:cNvPr>
          <p:cNvSpPr/>
          <p:nvPr/>
        </p:nvSpPr>
        <p:spPr>
          <a:xfrm>
            <a:off x="762000" y="4229100"/>
            <a:ext cx="10668000" cy="68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A6218E-2DF2-2340-AD3D-E0D97A59DB62}"/>
              </a:ext>
            </a:extLst>
          </p:cNvPr>
          <p:cNvSpPr/>
          <p:nvPr/>
        </p:nvSpPr>
        <p:spPr>
          <a:xfrm>
            <a:off x="914400" y="43307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93D6EA-771C-1A49-9923-25FD68D28DE8}"/>
              </a:ext>
            </a:extLst>
          </p:cNvPr>
          <p:cNvSpPr txBox="1"/>
          <p:nvPr/>
        </p:nvSpPr>
        <p:spPr>
          <a:xfrm>
            <a:off x="1600200" y="42291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Setujui / Tolak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9CC8C-CC30-D04F-98EA-11CFE449DBDA}"/>
              </a:ext>
            </a:extLst>
          </p:cNvPr>
          <p:cNvSpPr txBox="1"/>
          <p:nvPr/>
        </p:nvSpPr>
        <p:spPr>
          <a:xfrm>
            <a:off x="4699000" y="42291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Putuskan dengan catatan alasan.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4C1D8A-5BCF-DF41-862C-E08F579E35D1}"/>
              </a:ext>
            </a:extLst>
          </p:cNvPr>
          <p:cNvSpPr/>
          <p:nvPr/>
        </p:nvSpPr>
        <p:spPr>
          <a:xfrm>
            <a:off x="762000" y="5003800"/>
            <a:ext cx="10668000" cy="6858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B8EE44-8F39-5146-8430-78EA504E8214}"/>
              </a:ext>
            </a:extLst>
          </p:cNvPr>
          <p:cNvSpPr/>
          <p:nvPr/>
        </p:nvSpPr>
        <p:spPr>
          <a:xfrm>
            <a:off x="914400" y="51054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DFA2B-89A5-564D-A1EA-9DF114B92BF5}"/>
              </a:ext>
            </a:extLst>
          </p:cNvPr>
          <p:cNvSpPr txBox="1"/>
          <p:nvPr/>
        </p:nvSpPr>
        <p:spPr>
          <a:xfrm>
            <a:off x="1600200" y="50038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Masuk Direktori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227AA8-8FC4-6842-8D02-F060F17FDA7A}"/>
              </a:ext>
            </a:extLst>
          </p:cNvPr>
          <p:cNvSpPr txBox="1"/>
          <p:nvPr/>
        </p:nvSpPr>
        <p:spPr>
          <a:xfrm>
            <a:off x="4699000" y="50038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Data disetujui tampil di direktori.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B246DCC-111C-C648-8E88-2E187D2528C5}"/>
              </a:ext>
            </a:extLst>
          </p:cNvPr>
          <p:cNvSpPr/>
          <p:nvPr/>
        </p:nvSpPr>
        <p:spPr>
          <a:xfrm>
            <a:off x="762000" y="5778500"/>
            <a:ext cx="10668000" cy="68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8C0845-E7F3-4141-B6C5-C60A415D6408}"/>
              </a:ext>
            </a:extLst>
          </p:cNvPr>
          <p:cNvSpPr/>
          <p:nvPr/>
        </p:nvSpPr>
        <p:spPr>
          <a:xfrm>
            <a:off x="914400" y="5880100"/>
            <a:ext cx="482600" cy="4826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70EDD5-0C53-5244-B44D-4C0737DE00BB}"/>
              </a:ext>
            </a:extLst>
          </p:cNvPr>
          <p:cNvSpPr txBox="1"/>
          <p:nvPr/>
        </p:nvSpPr>
        <p:spPr>
          <a:xfrm>
            <a:off x="1600200" y="5778500"/>
            <a:ext cx="2921000" cy="685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A68A8"/>
                </a:solidFill>
              </a:rPr>
              <a:t>Log Aktivitas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09D311-0D92-734B-A198-DEE0565ABCEB}"/>
              </a:ext>
            </a:extLst>
          </p:cNvPr>
          <p:cNvSpPr txBox="1"/>
          <p:nvPr/>
        </p:nvSpPr>
        <p:spPr>
          <a:xfrm>
            <a:off x="4699000" y="57785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Pantau jejak siapa mengubah apa.</a:t>
            </a:r>
          </a:p>
        </p:txBody>
      </p:sp>
    </p:spTree>
    <p:extLst>
      <p:ext uri="{BB962C8B-B14F-4D97-AF65-F5344CB8AC3E}">
        <p14:creationId xmlns:p14="http://schemas.microsoft.com/office/powerpoint/2010/main" val="8649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FCFC-0AB1-ACF3-1CDC-BF09E9C2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Fitur Unggulan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241E56-2D47-5543-8C48-FC7EB49164DB}"/>
              </a:ext>
            </a:extLst>
          </p:cNvPr>
          <p:cNvSpPr/>
          <p:nvPr/>
        </p:nvSpPr>
        <p:spPr>
          <a:xfrm>
            <a:off x="2159000" y="20320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6062D-5C5C-434F-9569-05CBD38084CE}"/>
              </a:ext>
            </a:extLst>
          </p:cNvPr>
          <p:cNvSpPr txBox="1"/>
          <p:nvPr/>
        </p:nvSpPr>
        <p:spPr>
          <a:xfrm>
            <a:off x="889000" y="29464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Form Pintar Bercabang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BCBF9-539A-5843-B3B0-238DF24A27F7}"/>
              </a:ext>
            </a:extLst>
          </p:cNvPr>
          <p:cNvSpPr txBox="1"/>
          <p:nvPr/>
        </p:nvSpPr>
        <p:spPr>
          <a:xfrm>
            <a:off x="990600" y="33274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Hemat waktu surveyor di lapangan.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6F3AE5-4C89-834F-86E2-CEFC39F4DD48}"/>
              </a:ext>
            </a:extLst>
          </p:cNvPr>
          <p:cNvSpPr/>
          <p:nvPr/>
        </p:nvSpPr>
        <p:spPr>
          <a:xfrm>
            <a:off x="5715000" y="20320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4083B-EDB2-3A42-A1D2-E7235593BA31}"/>
              </a:ext>
            </a:extLst>
          </p:cNvPr>
          <p:cNvSpPr txBox="1"/>
          <p:nvPr/>
        </p:nvSpPr>
        <p:spPr>
          <a:xfrm>
            <a:off x="4445000" y="29464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Klasifikasi Otomatis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BDB47-C124-EA45-BF66-86525646CE44}"/>
              </a:ext>
            </a:extLst>
          </p:cNvPr>
          <p:cNvSpPr txBox="1"/>
          <p:nvPr/>
        </p:nvSpPr>
        <p:spPr>
          <a:xfrm>
            <a:off x="4546600" y="33274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Mengikuti standar DESDE-LTC.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0526C7-E931-7444-8BB7-871151D97040}"/>
              </a:ext>
            </a:extLst>
          </p:cNvPr>
          <p:cNvSpPr/>
          <p:nvPr/>
        </p:nvSpPr>
        <p:spPr>
          <a:xfrm>
            <a:off x="9271000" y="20320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46947-D66A-FA40-B46D-FEA2DE14BB59}"/>
              </a:ext>
            </a:extLst>
          </p:cNvPr>
          <p:cNvSpPr txBox="1"/>
          <p:nvPr/>
        </p:nvSpPr>
        <p:spPr>
          <a:xfrm>
            <a:off x="8001000" y="29464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Lokasi Berjenjang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97768-C30F-FF48-91D6-56001D9D4B3A}"/>
              </a:ext>
            </a:extLst>
          </p:cNvPr>
          <p:cNvSpPr txBox="1"/>
          <p:nvPr/>
        </p:nvSpPr>
        <p:spPr>
          <a:xfrm>
            <a:off x="8102600" y="33274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Pendataan seluruh wilayah Indonesia.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6DFA05-57A7-4D4A-A9C5-8D5C2B816CAD}"/>
              </a:ext>
            </a:extLst>
          </p:cNvPr>
          <p:cNvSpPr/>
          <p:nvPr/>
        </p:nvSpPr>
        <p:spPr>
          <a:xfrm>
            <a:off x="2159000" y="44704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3340E-E817-414A-9B2B-A3D07E852DEC}"/>
              </a:ext>
            </a:extLst>
          </p:cNvPr>
          <p:cNvSpPr txBox="1"/>
          <p:nvPr/>
        </p:nvSpPr>
        <p:spPr>
          <a:xfrm>
            <a:off x="889000" y="53848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Alur Verifikasi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343F0-FB42-104B-8B88-8C8EE12028B2}"/>
              </a:ext>
            </a:extLst>
          </p:cNvPr>
          <p:cNvSpPr txBox="1"/>
          <p:nvPr/>
        </p:nvSpPr>
        <p:spPr>
          <a:xfrm>
            <a:off x="990600" y="57658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Jaminan kualitas setiap data.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6A267B-EA8F-4842-90FA-252B7EE570EC}"/>
              </a:ext>
            </a:extLst>
          </p:cNvPr>
          <p:cNvSpPr/>
          <p:nvPr/>
        </p:nvSpPr>
        <p:spPr>
          <a:xfrm>
            <a:off x="5715000" y="44704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37F9F0-A0C1-0146-AF9D-F4FFB5DBB088}"/>
              </a:ext>
            </a:extLst>
          </p:cNvPr>
          <p:cNvSpPr txBox="1"/>
          <p:nvPr/>
        </p:nvSpPr>
        <p:spPr>
          <a:xfrm>
            <a:off x="4445000" y="53848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Isi di Lapangan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4EE7F-8975-A648-A965-2E665A87C310}"/>
              </a:ext>
            </a:extLst>
          </p:cNvPr>
          <p:cNvSpPr txBox="1"/>
          <p:nvPr/>
        </p:nvSpPr>
        <p:spPr>
          <a:xfrm>
            <a:off x="4546600" y="57658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Sync otomatis + unggah foto.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985469-14A9-1948-BF50-D89C3F541891}"/>
              </a:ext>
            </a:extLst>
          </p:cNvPr>
          <p:cNvSpPr/>
          <p:nvPr/>
        </p:nvSpPr>
        <p:spPr>
          <a:xfrm>
            <a:off x="9271000" y="4470400"/>
            <a:ext cx="762000" cy="762000"/>
          </a:xfrm>
          <a:prstGeom prst="ellipse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932C45-F988-FD43-BE64-EC6138C4F594}"/>
              </a:ext>
            </a:extLst>
          </p:cNvPr>
          <p:cNvSpPr txBox="1"/>
          <p:nvPr/>
        </p:nvSpPr>
        <p:spPr>
          <a:xfrm>
            <a:off x="8001000" y="53848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</a:rPr>
              <a:t>Riwayat &amp; Audit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248E57-A557-3941-B007-21F63E521104}"/>
              </a:ext>
            </a:extLst>
          </p:cNvPr>
          <p:cNvSpPr txBox="1"/>
          <p:nvPr/>
        </p:nvSpPr>
        <p:spPr>
          <a:xfrm>
            <a:off x="8102600" y="5765800"/>
            <a:ext cx="3098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Setiap perubahan tercatat.</a:t>
            </a:r>
          </a:p>
        </p:txBody>
      </p:sp>
      <p:pic>
        <p:nvPicPr>
          <p:cNvPr id="21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336800" y="2209800"/>
            <a:ext cx="406400" cy="406400"/>
          </a:xfrm>
          <a:prstGeom prst="rect">
            <a:avLst/>
          </a:prstGeom>
        </p:spPr>
      </p:pic>
      <p:pic>
        <p:nvPicPr>
          <p:cNvPr id="22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18200" y="2235200"/>
            <a:ext cx="355600" cy="355600"/>
          </a:xfrm>
          <a:prstGeom prst="rect">
            <a:avLst/>
          </a:prstGeom>
        </p:spPr>
      </p:pic>
      <p:pic>
        <p:nvPicPr>
          <p:cNvPr id="23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474200" y="2235200"/>
            <a:ext cx="355600" cy="355600"/>
          </a:xfrm>
          <a:prstGeom prst="rect">
            <a:avLst/>
          </a:prstGeom>
        </p:spPr>
      </p:pic>
      <p:pic>
        <p:nvPicPr>
          <p:cNvPr id="24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36800" y="4648200"/>
            <a:ext cx="406400" cy="406400"/>
          </a:xfrm>
          <a:prstGeom prst="rect">
            <a:avLst/>
          </a:prstGeom>
        </p:spPr>
      </p:pic>
      <p:pic>
        <p:nvPicPr>
          <p:cNvPr id="25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905500" y="4660900"/>
            <a:ext cx="406400" cy="406400"/>
          </a:xfrm>
          <a:prstGeom prst="rect">
            <a:avLst/>
          </a:prstGeom>
        </p:spPr>
      </p:pic>
      <p:pic>
        <p:nvPicPr>
          <p:cNvPr id="26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74200" y="4648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97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CDB3-1FEF-0E34-166D-E5A9C477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Contoh Alur Nyata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08C82A-494E-6F45-B7D5-1ACF0AA1CC2F}"/>
              </a:ext>
            </a:extLst>
          </p:cNvPr>
          <p:cNvSpPr/>
          <p:nvPr/>
        </p:nvSpPr>
        <p:spPr>
          <a:xfrm>
            <a:off x="762000" y="1981200"/>
            <a:ext cx="3302000" cy="421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3E18FC-8716-B049-8BEA-C5268DA5DF84}"/>
              </a:ext>
            </a:extLst>
          </p:cNvPr>
          <p:cNvSpPr/>
          <p:nvPr/>
        </p:nvSpPr>
        <p:spPr>
          <a:xfrm>
            <a:off x="762000" y="1981200"/>
            <a:ext cx="3302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A663-E10C-7B4F-9EBB-FB8191AFBBB3}"/>
              </a:ext>
            </a:extLst>
          </p:cNvPr>
          <p:cNvSpPr txBox="1"/>
          <p:nvPr/>
        </p:nvSpPr>
        <p:spPr>
          <a:xfrm>
            <a:off x="838200" y="2108200"/>
            <a:ext cx="31496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Rumah Sakit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30B93-2540-A749-B230-3900C343905A}"/>
              </a:ext>
            </a:extLst>
          </p:cNvPr>
          <p:cNvSpPr txBox="1"/>
          <p:nvPr/>
        </p:nvSpPr>
        <p:spPr>
          <a:xfrm>
            <a:off x="838200" y="2451100"/>
            <a:ext cx="3149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D6E4F2"/>
                </a:solidFill>
              </a:rPr>
              <a:t>Rawat Inap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581554-5AF1-074D-A51F-2BAD27D98DE2}"/>
              </a:ext>
            </a:extLst>
          </p:cNvPr>
          <p:cNvSpPr/>
          <p:nvPr/>
        </p:nvSpPr>
        <p:spPr>
          <a:xfrm>
            <a:off x="939800" y="29464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Data dasar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2DB9D443-C027-4B4A-94CE-9E738D300058}"/>
              </a:ext>
            </a:extLst>
          </p:cNvPr>
          <p:cNvSpPr/>
          <p:nvPr/>
        </p:nvSpPr>
        <p:spPr>
          <a:xfrm>
            <a:off x="2336800" y="33274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757912-9BFD-734B-8717-05B3F779E332}"/>
              </a:ext>
            </a:extLst>
          </p:cNvPr>
          <p:cNvSpPr/>
          <p:nvPr/>
        </p:nvSpPr>
        <p:spPr>
          <a:xfrm>
            <a:off x="939800" y="34417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Pilih Rawat Inap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A0015355-8640-A74A-A245-38F9818BD2AE}"/>
              </a:ext>
            </a:extLst>
          </p:cNvPr>
          <p:cNvSpPr/>
          <p:nvPr/>
        </p:nvSpPr>
        <p:spPr>
          <a:xfrm>
            <a:off x="2336800" y="38227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BA897F-237F-704D-BA4C-24CC57CB3D69}"/>
              </a:ext>
            </a:extLst>
          </p:cNvPr>
          <p:cNvSpPr/>
          <p:nvPr/>
        </p:nvSpPr>
        <p:spPr>
          <a:xfrm>
            <a:off x="939800" y="39370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Akut · dokter 24 jam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1C34FB73-B936-C34C-B006-797493B11486}"/>
              </a:ext>
            </a:extLst>
          </p:cNvPr>
          <p:cNvSpPr/>
          <p:nvPr/>
        </p:nvSpPr>
        <p:spPr>
          <a:xfrm>
            <a:off x="2336800" y="43180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577A33-6BEE-BC4A-A45B-003031FBBFE1}"/>
              </a:ext>
            </a:extLst>
          </p:cNvPr>
          <p:cNvSpPr/>
          <p:nvPr/>
        </p:nvSpPr>
        <p:spPr>
          <a:xfrm>
            <a:off x="939800" y="44323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Kapasitas · staf · tarif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4278B0C7-C36A-E54C-8252-4576C4AF98B3}"/>
              </a:ext>
            </a:extLst>
          </p:cNvPr>
          <p:cNvSpPr/>
          <p:nvPr/>
        </p:nvSpPr>
        <p:spPr>
          <a:xfrm>
            <a:off x="2336800" y="48133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563009-94DC-2A43-8F4A-209C21090CC4}"/>
              </a:ext>
            </a:extLst>
          </p:cNvPr>
          <p:cNvSpPr/>
          <p:nvPr/>
        </p:nvSpPr>
        <p:spPr>
          <a:xfrm>
            <a:off x="939800" y="4927600"/>
            <a:ext cx="2946400" cy="381000"/>
          </a:xfrm>
          <a:prstGeom prst="roundRect">
            <a:avLst/>
          </a:prstGeom>
          <a:solidFill>
            <a:srgbClr val="14304F"/>
          </a:solidFill>
          <a:ln w="12700" cap="flat" cmpd="sng" algn="ctr">
            <a:solidFill>
              <a:srgbClr val="1430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✓  Selesai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3E6A14C-0745-DE46-B7FB-0F88416198BD}"/>
              </a:ext>
            </a:extLst>
          </p:cNvPr>
          <p:cNvSpPr/>
          <p:nvPr/>
        </p:nvSpPr>
        <p:spPr>
          <a:xfrm>
            <a:off x="4445000" y="1981200"/>
            <a:ext cx="3302000" cy="421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0507A5E-596A-7B4A-9330-F343F49ECEEE}"/>
              </a:ext>
            </a:extLst>
          </p:cNvPr>
          <p:cNvSpPr/>
          <p:nvPr/>
        </p:nvSpPr>
        <p:spPr>
          <a:xfrm>
            <a:off x="4445000" y="1981200"/>
            <a:ext cx="3302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7512FF-0CE5-2F45-B08F-6479B9C11D98}"/>
              </a:ext>
            </a:extLst>
          </p:cNvPr>
          <p:cNvSpPr txBox="1"/>
          <p:nvPr/>
        </p:nvSpPr>
        <p:spPr>
          <a:xfrm>
            <a:off x="4521200" y="2108200"/>
            <a:ext cx="31496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Puskesmas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E4A1C-9935-414E-88D3-D6858DC5E70F}"/>
              </a:ext>
            </a:extLst>
          </p:cNvPr>
          <p:cNvSpPr txBox="1"/>
          <p:nvPr/>
        </p:nvSpPr>
        <p:spPr>
          <a:xfrm>
            <a:off x="4521200" y="2451100"/>
            <a:ext cx="3149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D6E4F2"/>
                </a:solidFill>
              </a:rPr>
              <a:t>Rawat Jalan + Informasi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7895FC-B117-D64D-8940-8B0CCE24FC9F}"/>
              </a:ext>
            </a:extLst>
          </p:cNvPr>
          <p:cNvSpPr/>
          <p:nvPr/>
        </p:nvSpPr>
        <p:spPr>
          <a:xfrm>
            <a:off x="4622800" y="29464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Data dasar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00D5CC61-A2D6-A846-87B1-89E04343DE68}"/>
              </a:ext>
            </a:extLst>
          </p:cNvPr>
          <p:cNvSpPr/>
          <p:nvPr/>
        </p:nvSpPr>
        <p:spPr>
          <a:xfrm>
            <a:off x="6019800" y="33274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F3EF83-6957-D34D-BEB6-8DBAC6F083CB}"/>
              </a:ext>
            </a:extLst>
          </p:cNvPr>
          <p:cNvSpPr/>
          <p:nvPr/>
        </p:nvSpPr>
        <p:spPr>
          <a:xfrm>
            <a:off x="4622800" y="34417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Pilih 2 layanan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DCF49723-D3AC-6947-98B4-76F3D8D89FD1}"/>
              </a:ext>
            </a:extLst>
          </p:cNvPr>
          <p:cNvSpPr/>
          <p:nvPr/>
        </p:nvSpPr>
        <p:spPr>
          <a:xfrm>
            <a:off x="6019800" y="38227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FEA7B1A-5DF4-AD43-A2C9-D44AB1CC65D8}"/>
              </a:ext>
            </a:extLst>
          </p:cNvPr>
          <p:cNvSpPr/>
          <p:nvPr/>
        </p:nvSpPr>
        <p:spPr>
          <a:xfrm>
            <a:off x="4622800" y="39370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Detail tiap layanan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CB99A72F-4390-AA45-B14B-2B98DC081580}"/>
              </a:ext>
            </a:extLst>
          </p:cNvPr>
          <p:cNvSpPr/>
          <p:nvPr/>
        </p:nvSpPr>
        <p:spPr>
          <a:xfrm>
            <a:off x="6019800" y="43180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8DBD166-2D8E-4943-84ED-94C9E420A40D}"/>
              </a:ext>
            </a:extLst>
          </p:cNvPr>
          <p:cNvSpPr/>
          <p:nvPr/>
        </p:nvSpPr>
        <p:spPr>
          <a:xfrm>
            <a:off x="4622800" y="4432300"/>
            <a:ext cx="2946400" cy="381000"/>
          </a:xfrm>
          <a:prstGeom prst="roundRect">
            <a:avLst/>
          </a:prstGeom>
          <a:solidFill>
            <a:srgbClr val="14304F"/>
          </a:solidFill>
          <a:ln w="12700" cap="flat" cmpd="sng" algn="ctr">
            <a:solidFill>
              <a:srgbClr val="1430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✓  Selesai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31959B-99B5-8446-A6A5-5EBDDE28F6D1}"/>
              </a:ext>
            </a:extLst>
          </p:cNvPr>
          <p:cNvSpPr/>
          <p:nvPr/>
        </p:nvSpPr>
        <p:spPr>
          <a:xfrm>
            <a:off x="8128000" y="1981200"/>
            <a:ext cx="3302000" cy="421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F12F997-5A06-3840-82F1-AE25458E7F35}"/>
              </a:ext>
            </a:extLst>
          </p:cNvPr>
          <p:cNvSpPr/>
          <p:nvPr/>
        </p:nvSpPr>
        <p:spPr>
          <a:xfrm>
            <a:off x="8128000" y="1981200"/>
            <a:ext cx="3302000" cy="762000"/>
          </a:xfrm>
          <a:prstGeom prst="roundRect">
            <a:avLst/>
          </a:prstGeom>
          <a:solidFill>
            <a:srgbClr val="2A68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FDB5F8-7DA6-7B42-B872-0D734741CE79}"/>
              </a:ext>
            </a:extLst>
          </p:cNvPr>
          <p:cNvSpPr txBox="1"/>
          <p:nvPr/>
        </p:nvSpPr>
        <p:spPr>
          <a:xfrm>
            <a:off x="8204200" y="2108200"/>
            <a:ext cx="31496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LSM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7E08F8-BC79-C040-9704-2228885066C6}"/>
              </a:ext>
            </a:extLst>
          </p:cNvPr>
          <p:cNvSpPr txBox="1"/>
          <p:nvPr/>
        </p:nvSpPr>
        <p:spPr>
          <a:xfrm>
            <a:off x="8204200" y="2451100"/>
            <a:ext cx="3149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D6E4F2"/>
                </a:solidFill>
              </a:rPr>
              <a:t>Informasi Sosial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F9E5F4D-A6FC-0942-8A28-1989620F708B}"/>
              </a:ext>
            </a:extLst>
          </p:cNvPr>
          <p:cNvSpPr/>
          <p:nvPr/>
        </p:nvSpPr>
        <p:spPr>
          <a:xfrm>
            <a:off x="8305800" y="29464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Data dasar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4B6BBD3F-7E7D-F940-90E0-4FA9B3E2DCC2}"/>
              </a:ext>
            </a:extLst>
          </p:cNvPr>
          <p:cNvSpPr/>
          <p:nvPr/>
        </p:nvSpPr>
        <p:spPr>
          <a:xfrm>
            <a:off x="9702800" y="33274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B09FC1A-978F-E14D-97B3-29D1AD0FE7CB}"/>
              </a:ext>
            </a:extLst>
          </p:cNvPr>
          <p:cNvSpPr/>
          <p:nvPr/>
        </p:nvSpPr>
        <p:spPr>
          <a:xfrm>
            <a:off x="8305800" y="34417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Pilih info sosial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4E078A6C-D645-8048-BCDE-8CED6F57B7D7}"/>
              </a:ext>
            </a:extLst>
          </p:cNvPr>
          <p:cNvSpPr/>
          <p:nvPr/>
        </p:nvSpPr>
        <p:spPr>
          <a:xfrm>
            <a:off x="9702800" y="38227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73A9F48-09CF-A546-A484-498D7FB61052}"/>
              </a:ext>
            </a:extLst>
          </p:cNvPr>
          <p:cNvSpPr/>
          <p:nvPr/>
        </p:nvSpPr>
        <p:spPr>
          <a:xfrm>
            <a:off x="8305800" y="39370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Jenis konsultasi</a:t>
            </a: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6A98DF95-CF6F-8E44-9DD3-19A42BDE9C8E}"/>
              </a:ext>
            </a:extLst>
          </p:cNvPr>
          <p:cNvSpPr/>
          <p:nvPr/>
        </p:nvSpPr>
        <p:spPr>
          <a:xfrm>
            <a:off x="9702800" y="43180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0E0869A-EF4E-9244-A2BD-AE1830831158}"/>
              </a:ext>
            </a:extLst>
          </p:cNvPr>
          <p:cNvSpPr/>
          <p:nvPr/>
        </p:nvSpPr>
        <p:spPr>
          <a:xfrm>
            <a:off x="8305800" y="4432300"/>
            <a:ext cx="2946400" cy="381000"/>
          </a:xfrm>
          <a:prstGeom prst="roundRect">
            <a:avLst/>
          </a:prstGeom>
          <a:solidFill>
            <a:srgbClr val="F5F7F7"/>
          </a:solidFill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Detail layanan</a:t>
            </a: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62850B7B-71B7-4243-822C-21C3B40F5276}"/>
              </a:ext>
            </a:extLst>
          </p:cNvPr>
          <p:cNvSpPr/>
          <p:nvPr/>
        </p:nvSpPr>
        <p:spPr>
          <a:xfrm>
            <a:off x="9702800" y="4813300"/>
            <a:ext cx="152400" cy="101600"/>
          </a:xfrm>
          <a:prstGeom prst="downArrow">
            <a:avLst/>
          </a:prstGeom>
          <a:solidFill>
            <a:srgbClr val="FFB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7DDB2D0-9401-ED49-8FF0-F09C55C4FEA0}"/>
              </a:ext>
            </a:extLst>
          </p:cNvPr>
          <p:cNvSpPr/>
          <p:nvPr/>
        </p:nvSpPr>
        <p:spPr>
          <a:xfrm>
            <a:off x="8305800" y="4927600"/>
            <a:ext cx="2946400" cy="381000"/>
          </a:xfrm>
          <a:prstGeom prst="roundRect">
            <a:avLst/>
          </a:prstGeom>
          <a:solidFill>
            <a:srgbClr val="14304F"/>
          </a:solidFill>
          <a:ln w="12700" cap="flat" cmpd="sng" algn="ctr">
            <a:solidFill>
              <a:srgbClr val="1430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✓  Selesai</a:t>
            </a:r>
          </a:p>
        </p:txBody>
      </p:sp>
    </p:spTree>
    <p:extLst>
      <p:ext uri="{BB962C8B-B14F-4D97-AF65-F5344CB8AC3E}">
        <p14:creationId xmlns:p14="http://schemas.microsoft.com/office/powerpoint/2010/main" val="2215328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8A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6586-FAD6-F88B-8A82-7A39A8FD0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d-ID" sz="6600" b="1" spc="200" dirty="0">
                <a:solidFill>
                  <a:srgbClr val="FFFFFF"/>
                </a:solidFill>
              </a:rPr>
              <a:t>OMMHA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8D8FB-D370-E39A-C6CA-5B9902B4E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id-ID" sz="1800" dirty="0">
                <a:solidFill>
                  <a:srgbClr val="FFFFFF"/>
                </a:solidFill>
              </a:rPr>
              <a:t>Data fasilitas kesehatan jiwa &amp; sosial yang terstruktur, terverifikasi, dan mudah diakses.</a:t>
            </a:r>
          </a:p>
        </p:txBody>
      </p:sp>
    </p:spTree>
    <p:extLst>
      <p:ext uri="{BB962C8B-B14F-4D97-AF65-F5344CB8AC3E}">
        <p14:creationId xmlns:p14="http://schemas.microsoft.com/office/powerpoint/2010/main" val="363736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89508858]">
  <a:themeElements>
    <a:clrScheme name="Office">
      <a:dk1>
        <a:srgbClr val="1A1A1A"/>
      </a:dk1>
      <a:lt1>
        <a:srgbClr val="FFFFFF"/>
      </a:lt1>
      <a:dk2>
        <a:srgbClr val="14304F"/>
      </a:dk2>
      <a:lt2>
        <a:srgbClr val="F1F5F5"/>
      </a:lt2>
      <a:accent1>
        <a:srgbClr val="2A68A8"/>
      </a:accent1>
      <a:accent2>
        <a:srgbClr val="1F4E7E"/>
      </a:accent2>
      <a:accent3>
        <a:srgbClr val="FFBF47"/>
      </a:accent3>
      <a:accent4>
        <a:srgbClr val="6B7280"/>
      </a:accent4>
      <a:accent5>
        <a:srgbClr val="4A86C5"/>
      </a:accent5>
      <a:accent6>
        <a:srgbClr val="374151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209E8C-247C-AF4A-BBD8-0AED79C33B5D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cb04af24-4c65-4cf4-bb89-e7c0266999a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638</Words>
  <Application>Microsoft Macintosh PowerPoint</Application>
  <PresentationFormat>Widescreen</PresentationFormat>
  <Paragraphs>149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Montserrat</vt:lpstr>
      <vt:lpstr>Source Sans Pro</vt:lpstr>
      <vt:lpstr>Office Theme [1781089508858]</vt:lpstr>
      <vt:lpstr>OMMHA</vt:lpstr>
      <vt:lpstr>Apa Itu OMMHA?</vt:lpstr>
      <vt:lpstr>Empat Peran Pengguna</vt:lpstr>
      <vt:lpstr>Cara Pakai — Surveyor (Aplikasi Mobile)</vt:lpstr>
      <vt:lpstr>Form Pintar yang Bercabang Otomatis</vt:lpstr>
      <vt:lpstr>Tahap 1 — Data Dasar Fasilitas</vt:lpstr>
      <vt:lpstr>Tahap 2 — Pilih Jenis Layanan</vt:lpstr>
      <vt:lpstr>Tahap 3 &amp; 4 — Detail per Layanan</vt:lpstr>
      <vt:lpstr>Cara Pakai — Verifikator &amp; Admin (Dashboard Web)</vt:lpstr>
      <vt:lpstr>Fitur Unggulan</vt:lpstr>
      <vt:lpstr>Contoh Alur Nyata</vt:lpstr>
      <vt:lpstr>OMMHA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Nuroji Lukmansyah</dc:creator>
  <cp:lastModifiedBy>Nuroji Lukmansyah</cp:lastModifiedBy>
  <cp:revision>5</cp:revision>
  <dcterms:created xsi:type="dcterms:W3CDTF">2026-06-10T10:05:20Z</dcterms:created>
  <dcterms:modified xsi:type="dcterms:W3CDTF">2026-06-10T11:24:35Z</dcterms:modified>
</cp:coreProperties>
</file>